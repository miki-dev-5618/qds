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F6FF">
              <a:alpha val="8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21792" y="566928"/>
            <a:ext cx="749808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Quantum-Inspired Cyber Threat Detection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58368" y="1170432"/>
            <a:ext cx="704088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0369A1"/>
                </a:solidFill>
              </a:rPr>
              <a:t>for teleportation-based Quantum Digital Signature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1325880" cy="50292"/>
          </a:xfrm>
          <a:prstGeom prst="rect">
            <a:avLst/>
          </a:prstGeom>
          <a:solidFill>
            <a:srgbClr val="BAE6FD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2029968"/>
            <a:ext cx="4800600" cy="3291840"/>
          </a:xfrm>
          <a:prstGeom prst="roundRect">
            <a:avLst>
              <a:gd name="adj" fmla="val 333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284C7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157984"/>
            <a:ext cx="447141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Core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578608"/>
            <a:ext cx="4343400" cy="117043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public-key signatures such as RSA and ECC depend on hardness assumptions that become vulnerable to sufficiently powerful quantum computers. The proposed system replaces that trust model with quantum evidence: unknown qubits cannot be copied perfectly, and unauthorized measurement leaves disturbance that can be verified later.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3977640"/>
            <a:ext cx="4343400" cy="841248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stance: deterministic physics checks only. No AI/ML classifier is required; every decision comes from QBER, mismatch rates, verifier asymmetry, freshness, and authentication fields.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989320" y="1920240"/>
            <a:ext cx="5440680" cy="3493008"/>
          </a:xfrm>
          <a:prstGeom prst="roundRect">
            <a:avLst>
              <a:gd name="adj" fmla="val 314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7C3AED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53912" y="2048256"/>
            <a:ext cx="511149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Threats covered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27648" y="2514600"/>
            <a:ext cx="2121408" cy="310896"/>
          </a:xfrm>
          <a:prstGeom prst="roundRect">
            <a:avLst>
              <a:gd name="adj" fmla="val 17647"/>
            </a:avLst>
          </a:prstGeom>
          <a:solidFill>
            <a:srgbClr val="BAE6FD">
              <a:alpha val="92000"/>
            </a:srgbClr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0" y="2574036"/>
            <a:ext cx="197510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Eavesdropping / tampering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750808" y="2514600"/>
            <a:ext cx="2121408" cy="310896"/>
          </a:xfrm>
          <a:prstGeom prst="roundRect">
            <a:avLst>
              <a:gd name="adj" fmla="val 17647"/>
            </a:avLst>
          </a:prstGeom>
          <a:solidFill>
            <a:srgbClr val="FFE4E6">
              <a:alpha val="92000"/>
            </a:srgbClr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823960" y="2574036"/>
            <a:ext cx="197510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External signature forgery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327648" y="3154680"/>
            <a:ext cx="2121408" cy="310896"/>
          </a:xfrm>
          <a:prstGeom prst="roundRect">
            <a:avLst>
              <a:gd name="adj" fmla="val 17647"/>
            </a:avLst>
          </a:prstGeom>
          <a:solidFill>
            <a:srgbClr val="EDE9FE">
              <a:alpha val="9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0" y="3214116"/>
            <a:ext cx="197510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Dishonest verifier forgery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750808" y="3154680"/>
            <a:ext cx="2121408" cy="310896"/>
          </a:xfrm>
          <a:prstGeom prst="roundRect">
            <a:avLst>
              <a:gd name="adj" fmla="val 17647"/>
            </a:avLst>
          </a:prstGeom>
          <a:solidFill>
            <a:srgbClr val="FEF3C7">
              <a:alpha val="92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823960" y="3214116"/>
            <a:ext cx="197510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Repudiation between Bob and Charlie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327648" y="3794760"/>
            <a:ext cx="2121408" cy="310896"/>
          </a:xfrm>
          <a:prstGeom prst="roundRect">
            <a:avLst>
              <a:gd name="adj" fmla="val 17647"/>
            </a:avLst>
          </a:prstGeom>
          <a:solidFill>
            <a:srgbClr val="D1FAE5">
              <a:alpha val="92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0" y="3854196"/>
            <a:ext cx="1975104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Replay and sender impersonation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27648" y="4526280"/>
            <a:ext cx="4736592" cy="566928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a Qiskit/Aer simulation framework, adversary testbed, deterministic threat engine, security-math module, socket-network demo, and real-time telemetry dashboard.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Quantum Digital Signature (QDS) threat detection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1/5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F6FF">
              <a:alpha val="8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QDS mechanism: signature becomes quantum evidence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86968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Alice signs with BB84-style qubit tokens; verifiers store eliminated-state evidence before the classical signature is revealed.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051560" cy="41148"/>
          </a:xfrm>
          <a:prstGeom prst="rect">
            <a:avLst/>
          </a:prstGeom>
          <a:solidFill>
            <a:srgbClr val="BAE6FD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417320"/>
            <a:ext cx="1691640" cy="224028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59669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545336"/>
            <a:ext cx="136245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Alice prepares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1874520"/>
            <a:ext cx="1444752" cy="144475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message k=0 and k=1, Alice creates n entries: (bit, basis). Each entry maps to |0&gt;, |1&gt;, |+&gt;, or |-&gt;.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304288" y="2258568"/>
            <a:ext cx="2926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4C7"/>
                </a:solidFill>
              </a:rPr>
              <a:t>&gt;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88336" y="1417320"/>
            <a:ext cx="1691640" cy="224028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284C7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852928" y="1545336"/>
            <a:ext cx="136245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Distribute tokens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07208" y="1874520"/>
            <a:ext cx="1444752" cy="144475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Quantum signature tokens are sent to Bob and Charlie over a channel that can include noise or Eve.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398264" y="2258568"/>
            <a:ext cx="2926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4C7"/>
                </a:solidFill>
              </a:rPr>
              <a:t>&gt;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773168" y="1417320"/>
            <a:ext cx="1691640" cy="224028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7C3AED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937760" y="1545336"/>
            <a:ext cx="136245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Symmetrise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874520"/>
            <a:ext cx="1444752" cy="144475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Bob and Charlie randomly Keep (K) or Forward (F), so Alice cannot predict which verifier holds which evidence.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483096" y="2258568"/>
            <a:ext cx="2926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4C7"/>
                </a:solidFill>
              </a:rPr>
              <a:t>&gt;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858000" y="1417320"/>
            <a:ext cx="1691640" cy="224028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97706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022592" y="1545336"/>
            <a:ext cx="136245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State elimination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6872" y="1874520"/>
            <a:ext cx="1444752" cy="144475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Measurements do not need to identify the exact state; they record one or two impossible states per position.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567928" y="2258568"/>
            <a:ext cx="29260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4C7"/>
                </a:solidFill>
              </a:rPr>
              <a:t>&gt;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8942832" y="1417320"/>
            <a:ext cx="1691640" cy="224028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1D48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07424" y="1545336"/>
            <a:ext cx="136245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Reveal &amp; verify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061704" y="1874520"/>
            <a:ext cx="1444752" cy="144475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Alice reveals the classical (bit, basis) list. Any claimed state found in a verifier eliminated-state table is a contradiction.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58368" y="4069080"/>
            <a:ext cx="5440680" cy="1755648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59669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2960" y="4197096"/>
            <a:ext cx="511149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BB84 token map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32688" y="4645152"/>
            <a:ext cx="658368" cy="173736"/>
          </a:xfrm>
          <a:prstGeom prst="rect">
            <a:avLst/>
          </a:prstGeom>
          <a:solidFill>
            <a:srgbClr val="DBEAFE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60120" y="4690872"/>
            <a:ext cx="603504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Bit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920240" y="4645152"/>
            <a:ext cx="804672" cy="173736"/>
          </a:xfrm>
          <a:prstGeom prst="rect">
            <a:avLst/>
          </a:prstGeom>
          <a:solidFill>
            <a:srgbClr val="DBEAFE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947672" y="4690872"/>
            <a:ext cx="749808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Basis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108960" y="4645152"/>
            <a:ext cx="960120" cy="173736"/>
          </a:xfrm>
          <a:prstGeom prst="rect">
            <a:avLst/>
          </a:prstGeom>
          <a:solidFill>
            <a:srgbClr val="DBEAFE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36392" y="4690872"/>
            <a:ext cx="905256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Gate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297680" y="4645152"/>
            <a:ext cx="658368" cy="173736"/>
          </a:xfrm>
          <a:prstGeom prst="rect">
            <a:avLst/>
          </a:prstGeom>
          <a:solidFill>
            <a:srgbClr val="DBEAFE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325112" y="4690872"/>
            <a:ext cx="603504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F172A"/>
                </a:solidFill>
              </a:rPr>
              <a:t>State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32688" y="4828032"/>
            <a:ext cx="658368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0120" y="4873752"/>
            <a:ext cx="603504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0</a:t>
            </a:r>
            <a:endParaRPr lang="en-US" sz="770" dirty="0"/>
          </a:p>
        </p:txBody>
      </p:sp>
      <p:sp>
        <p:nvSpPr>
          <p:cNvPr id="38" name="Shape 36"/>
          <p:cNvSpPr/>
          <p:nvPr/>
        </p:nvSpPr>
        <p:spPr>
          <a:xfrm>
            <a:off x="1920240" y="4828032"/>
            <a:ext cx="804672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947672" y="4873752"/>
            <a:ext cx="749808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Z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3108960" y="4828032"/>
            <a:ext cx="960120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136392" y="4873752"/>
            <a:ext cx="905256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identity</a:t>
            </a:r>
            <a:endParaRPr lang="en-US" sz="770" dirty="0"/>
          </a:p>
        </p:txBody>
      </p:sp>
      <p:sp>
        <p:nvSpPr>
          <p:cNvPr id="42" name="Shape 40"/>
          <p:cNvSpPr/>
          <p:nvPr/>
        </p:nvSpPr>
        <p:spPr>
          <a:xfrm>
            <a:off x="4297680" y="4828032"/>
            <a:ext cx="658368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325112" y="4873752"/>
            <a:ext cx="603504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|0&gt;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932688" y="5010912"/>
            <a:ext cx="658368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960120" y="5056632"/>
            <a:ext cx="603504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1</a:t>
            </a:r>
            <a:endParaRPr lang="en-US" sz="770" dirty="0"/>
          </a:p>
        </p:txBody>
      </p:sp>
      <p:sp>
        <p:nvSpPr>
          <p:cNvPr id="46" name="Shape 44"/>
          <p:cNvSpPr/>
          <p:nvPr/>
        </p:nvSpPr>
        <p:spPr>
          <a:xfrm>
            <a:off x="1920240" y="5010912"/>
            <a:ext cx="804672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947672" y="5056632"/>
            <a:ext cx="749808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Z</a:t>
            </a:r>
            <a:endParaRPr lang="en-US" sz="770" dirty="0"/>
          </a:p>
        </p:txBody>
      </p:sp>
      <p:sp>
        <p:nvSpPr>
          <p:cNvPr id="48" name="Shape 46"/>
          <p:cNvSpPr/>
          <p:nvPr/>
        </p:nvSpPr>
        <p:spPr>
          <a:xfrm>
            <a:off x="3108960" y="5010912"/>
            <a:ext cx="960120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3136392" y="5056632"/>
            <a:ext cx="905256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X</a:t>
            </a:r>
            <a:endParaRPr lang="en-US" sz="770" dirty="0"/>
          </a:p>
        </p:txBody>
      </p:sp>
      <p:sp>
        <p:nvSpPr>
          <p:cNvPr id="50" name="Shape 48"/>
          <p:cNvSpPr/>
          <p:nvPr/>
        </p:nvSpPr>
        <p:spPr>
          <a:xfrm>
            <a:off x="4297680" y="5010912"/>
            <a:ext cx="658368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325112" y="5056632"/>
            <a:ext cx="603504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|1&gt;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932688" y="5193792"/>
            <a:ext cx="658368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960120" y="5239512"/>
            <a:ext cx="603504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0</a:t>
            </a:r>
            <a:endParaRPr lang="en-US" sz="770" dirty="0"/>
          </a:p>
        </p:txBody>
      </p:sp>
      <p:sp>
        <p:nvSpPr>
          <p:cNvPr id="54" name="Shape 52"/>
          <p:cNvSpPr/>
          <p:nvPr/>
        </p:nvSpPr>
        <p:spPr>
          <a:xfrm>
            <a:off x="1920240" y="5193792"/>
            <a:ext cx="804672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1947672" y="5239512"/>
            <a:ext cx="749808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X</a:t>
            </a:r>
            <a:endParaRPr lang="en-US" sz="770" dirty="0"/>
          </a:p>
        </p:txBody>
      </p:sp>
      <p:sp>
        <p:nvSpPr>
          <p:cNvPr id="56" name="Shape 54"/>
          <p:cNvSpPr/>
          <p:nvPr/>
        </p:nvSpPr>
        <p:spPr>
          <a:xfrm>
            <a:off x="3108960" y="5193792"/>
            <a:ext cx="960120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136392" y="5239512"/>
            <a:ext cx="905256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H</a:t>
            </a:r>
            <a:endParaRPr lang="en-US" sz="770" dirty="0"/>
          </a:p>
        </p:txBody>
      </p:sp>
      <p:sp>
        <p:nvSpPr>
          <p:cNvPr id="58" name="Shape 56"/>
          <p:cNvSpPr/>
          <p:nvPr/>
        </p:nvSpPr>
        <p:spPr>
          <a:xfrm>
            <a:off x="4297680" y="5193792"/>
            <a:ext cx="658368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4325112" y="5239512"/>
            <a:ext cx="603504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|+&gt;</a:t>
            </a:r>
            <a:endParaRPr lang="en-US" sz="770" dirty="0"/>
          </a:p>
        </p:txBody>
      </p:sp>
      <p:sp>
        <p:nvSpPr>
          <p:cNvPr id="60" name="Shape 58"/>
          <p:cNvSpPr/>
          <p:nvPr/>
        </p:nvSpPr>
        <p:spPr>
          <a:xfrm>
            <a:off x="932688" y="5376672"/>
            <a:ext cx="658368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960120" y="5422392"/>
            <a:ext cx="603504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1</a:t>
            </a:r>
            <a:endParaRPr lang="en-US" sz="770" dirty="0"/>
          </a:p>
        </p:txBody>
      </p:sp>
      <p:sp>
        <p:nvSpPr>
          <p:cNvPr id="62" name="Shape 60"/>
          <p:cNvSpPr/>
          <p:nvPr/>
        </p:nvSpPr>
        <p:spPr>
          <a:xfrm>
            <a:off x="1920240" y="5376672"/>
            <a:ext cx="804672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1947672" y="5422392"/>
            <a:ext cx="749808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X</a:t>
            </a:r>
            <a:endParaRPr lang="en-US" sz="770" dirty="0"/>
          </a:p>
        </p:txBody>
      </p:sp>
      <p:sp>
        <p:nvSpPr>
          <p:cNvPr id="64" name="Shape 62"/>
          <p:cNvSpPr/>
          <p:nvPr/>
        </p:nvSpPr>
        <p:spPr>
          <a:xfrm>
            <a:off x="3108960" y="5376672"/>
            <a:ext cx="960120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136392" y="5422392"/>
            <a:ext cx="905256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X then H</a:t>
            </a:r>
            <a:endParaRPr lang="en-US" sz="770" dirty="0"/>
          </a:p>
        </p:txBody>
      </p:sp>
      <p:sp>
        <p:nvSpPr>
          <p:cNvPr id="66" name="Shape 64"/>
          <p:cNvSpPr/>
          <p:nvPr/>
        </p:nvSpPr>
        <p:spPr>
          <a:xfrm>
            <a:off x="4297680" y="5376672"/>
            <a:ext cx="658368" cy="173736"/>
          </a:xfrm>
          <a:prstGeom prst="rect">
            <a:avLst/>
          </a:prstGeom>
          <a:solidFill>
            <a:srgbClr val="F8FAFC"/>
          </a:solidFill>
          <a:ln w="5080">
            <a:solidFill>
              <a:srgbClr val="93C5FD">
                <a:alpha val="8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4325112" y="5422392"/>
            <a:ext cx="603504" cy="45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0F172A"/>
                </a:solidFill>
              </a:rPr>
              <a:t>|-&gt;</a:t>
            </a:r>
            <a:endParaRPr lang="en-US" sz="770" dirty="0"/>
          </a:p>
        </p:txBody>
      </p:sp>
      <p:sp>
        <p:nvSpPr>
          <p:cNvPr id="68" name="Shape 66"/>
          <p:cNvSpPr/>
          <p:nvPr/>
        </p:nvSpPr>
        <p:spPr>
          <a:xfrm>
            <a:off x="6446520" y="4069080"/>
            <a:ext cx="4864608" cy="1755648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97706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6611112" y="4197096"/>
            <a:ext cx="4535424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Eliminated-state rule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720840" y="4480560"/>
            <a:ext cx="4279392" cy="82296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basis outcome 0 eliminates |1&gt;; Z basis outcome 1 eliminates |0&gt;. X basis outcome 0 eliminates |-&gt;; X basis outcome 1 eliminates |+&gt;. Verification is based on contradictions against this stored evidence.</a:t>
            </a:r>
            <a:endParaRPr lang="en-US" sz="1140" dirty="0"/>
          </a:p>
        </p:txBody>
      </p:sp>
      <p:sp>
        <p:nvSpPr>
          <p:cNvPr id="71" name="Text 69"/>
          <p:cNvSpPr/>
          <p:nvPr/>
        </p:nvSpPr>
        <p:spPr>
          <a:xfrm>
            <a:off x="6720840" y="5413248"/>
            <a:ext cx="4279392" cy="25603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QDS: mismatches == 0. Teleportation QDS: observed mismatch rate &lt;= acceptance threshold s_a.</a:t>
            </a:r>
            <a:endParaRPr lang="en-US" sz="1040" dirty="0"/>
          </a:p>
        </p:txBody>
      </p:sp>
      <p:sp>
        <p:nvSpPr>
          <p:cNvPr id="72" name="Text 70"/>
          <p:cNvSpPr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Quantum Digital Signature (QDS) threat detection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2/5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F6FF">
              <a:alpha val="8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Eavesdropping detection: measurement disturbance becomes evidence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86968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Intercept-resend is modeled as Eve measuring the qubit mid-channel and forwarding a possibly disturbed state.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051560" cy="41148"/>
          </a:xfrm>
          <a:prstGeom prst="rect">
            <a:avLst/>
          </a:prstGeom>
          <a:solidFill>
            <a:srgbClr val="BAE6FD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417320"/>
            <a:ext cx="4892040" cy="4343400"/>
          </a:xfrm>
          <a:prstGeom prst="roundRect">
            <a:avLst>
              <a:gd name="adj" fmla="val 252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1D48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545336"/>
            <a:ext cx="456285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Intercept-resend attack path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1901952"/>
            <a:ext cx="329184" cy="329184"/>
          </a:xfrm>
          <a:prstGeom prst="ellipse">
            <a:avLst/>
          </a:prstGeom>
          <a:solidFill>
            <a:srgbClr val="BAE6FD"/>
          </a:solidFill>
          <a:ln w="6350">
            <a:solidFill>
              <a:srgbClr val="CBD5E1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4692" y="1984248"/>
            <a:ext cx="128016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1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353312" y="1856232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 intercepts each qubit with probability p_intercept.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68680" y="2468880"/>
            <a:ext cx="329184" cy="329184"/>
          </a:xfrm>
          <a:prstGeom prst="ellipse">
            <a:avLst/>
          </a:prstGeom>
          <a:solidFill>
            <a:srgbClr val="BAE6FD"/>
          </a:solidFill>
          <a:ln w="6350">
            <a:solidFill>
              <a:srgbClr val="CBD5E1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4692" y="2551176"/>
            <a:ext cx="128016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2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353312" y="2423160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 randomly chooses Z or X measurement basis.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68680" y="3035808"/>
            <a:ext cx="329184" cy="329184"/>
          </a:xfrm>
          <a:prstGeom prst="ellipse">
            <a:avLst/>
          </a:prstGeom>
          <a:solidFill>
            <a:srgbClr val="BAE6FD"/>
          </a:solidFill>
          <a:ln w="6350">
            <a:solidFill>
              <a:srgbClr val="CBD5E1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4692" y="3118104"/>
            <a:ext cx="128016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3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353312" y="2990088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qubit is measured into Eve's classical register.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68680" y="3602736"/>
            <a:ext cx="329184" cy="329184"/>
          </a:xfrm>
          <a:prstGeom prst="ellipse">
            <a:avLst/>
          </a:prstGeom>
          <a:solidFill>
            <a:srgbClr val="FFE4E6"/>
          </a:solidFill>
          <a:ln w="6350">
            <a:solidFill>
              <a:srgbClr val="CBD5E1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4692" y="3685032"/>
            <a:ext cx="128016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4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353312" y="3557016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Eve used the wrong basis, measurement collapses and disturbs the state.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868680" y="4169664"/>
            <a:ext cx="329184" cy="329184"/>
          </a:xfrm>
          <a:prstGeom prst="ellipse">
            <a:avLst/>
          </a:prstGeom>
          <a:solidFill>
            <a:srgbClr val="FFE4E6"/>
          </a:solidFill>
          <a:ln w="6350">
            <a:solidFill>
              <a:srgbClr val="CBD5E1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64692" y="4251960"/>
            <a:ext cx="128016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F172A"/>
                </a:solidFill>
              </a:rPr>
              <a:t>5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353312" y="4123944"/>
            <a:ext cx="3703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Bob/Charlie later observe elevated QBER or QDS contradictions.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897880" y="141732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97706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062472" y="1545336"/>
            <a:ext cx="511149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Why full intercept-resend gives about 25% QBER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99632" y="1847088"/>
            <a:ext cx="4800600" cy="658368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Among sifted BB84 positions, Bob kept only cases where his basis matched Alice. Eve still has a 50% chance of choosing the wrong basis. When she is wrong, Bob has a 50% chance of receiving the wrong bit.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903720" y="2670048"/>
            <a:ext cx="3611880" cy="393192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2700">
            <a:solidFill>
              <a:srgbClr val="D97706">
                <a:alpha val="6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086600" y="2770632"/>
            <a:ext cx="3246120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</a:rPr>
              <a:t>0.5 wrong basis * 0.5 wrong bit = 0.25 QBER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897880" y="3675888"/>
            <a:ext cx="5440680" cy="2084832"/>
          </a:xfrm>
          <a:prstGeom prst="roundRect">
            <a:avLst>
              <a:gd name="adj" fmla="val 526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284C7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062472" y="3803904"/>
            <a:ext cx="511149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Detection thresholds used in the project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199632" y="411480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layer: PointToPointProtocol and SecurePointToPointProtocol flag Eve when qber &gt; qber_threshold; default threshold is 0.15.</a:t>
            </a:r>
            <a:endParaRPr lang="en-US" sz="1120" dirty="0"/>
          </a:p>
        </p:txBody>
      </p:sp>
      <p:sp>
        <p:nvSpPr>
          <p:cNvPr id="32" name="Text 30"/>
          <p:cNvSpPr/>
          <p:nvPr/>
        </p:nvSpPr>
        <p:spPr>
          <a:xfrm>
            <a:off x="6199632" y="466344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QDS detection engine: channel eavesdropping is classified when channel_qber &gt; 0.11, returning EAVESDROPPING_TAMPERING.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6199632" y="5212080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Signature-evidence view: Eve disturbance also increases Bob/Charlie mismatch rates and may create verifier asymmetry.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Quantum Digital Signature (QDS) threat detection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3/5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F6FF">
              <a:alpha val="8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Teleportation-based QDS and statistical security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86968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Stage 5 extends prepare-and-measure QDS with Bell pairs, syndrome recording, Pauli correction, and threshold certificates.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051560" cy="41148"/>
          </a:xfrm>
          <a:prstGeom prst="rect">
            <a:avLst/>
          </a:prstGeom>
          <a:solidFill>
            <a:srgbClr val="BAE6FD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417320"/>
            <a:ext cx="1783080" cy="1874520"/>
          </a:xfrm>
          <a:prstGeom prst="roundRect">
            <a:avLst>
              <a:gd name="adj" fmla="val 61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59669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545336"/>
            <a:ext cx="145389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Bell pair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2376" y="1883664"/>
            <a:ext cx="1499616" cy="60350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EPR pair with H and CX.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0" y="2176272"/>
            <a:ext cx="32918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4C7"/>
                </a:solidFill>
              </a:rPr>
              <a:t>&gt;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16352" y="1417320"/>
            <a:ext cx="1783080" cy="1874520"/>
          </a:xfrm>
          <a:prstGeom prst="roundRect">
            <a:avLst>
              <a:gd name="adj" fmla="val 61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59669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80944" y="1545336"/>
            <a:ext cx="145389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Signature qubit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44368" y="1883664"/>
            <a:ext cx="1499616" cy="60350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Alice prepares token state on q0.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99432" y="2176272"/>
            <a:ext cx="32918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4C7"/>
                </a:solidFill>
              </a:rPr>
              <a:t>&gt;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38344" y="1417320"/>
            <a:ext cx="1783080" cy="1874520"/>
          </a:xfrm>
          <a:prstGeom prst="roundRect">
            <a:avLst>
              <a:gd name="adj" fmla="val 61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284C7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02936" y="1545336"/>
            <a:ext cx="145389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Bell measurement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1883664"/>
            <a:ext cx="1499616" cy="60350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CX(q0,q1), H(q0), then syndrome bits m1,m2.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21424" y="2176272"/>
            <a:ext cx="32918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4C7"/>
                </a:solidFill>
              </a:rPr>
              <a:t>&gt;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60336" y="1417320"/>
            <a:ext cx="1783080" cy="1874520"/>
          </a:xfrm>
          <a:prstGeom prst="roundRect">
            <a:avLst>
              <a:gd name="adj" fmla="val 61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284C7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24928" y="1545336"/>
            <a:ext cx="145389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Pauli correction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88352" y="1883664"/>
            <a:ext cx="1499616" cy="60350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m2 maps to X; m1 maps to Z.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043416" y="2176272"/>
            <a:ext cx="329184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4C7"/>
                </a:solidFill>
              </a:rPr>
              <a:t>&gt;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482328" y="1417320"/>
            <a:ext cx="1783080" cy="1874520"/>
          </a:xfrm>
          <a:prstGeom prst="roundRect">
            <a:avLst>
              <a:gd name="adj" fmla="val 61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7C3AED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646920" y="1545336"/>
            <a:ext cx="145389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Verification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10344" y="1883664"/>
            <a:ext cx="1499616" cy="60350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Receiver measures recovered qubit and records eliminated states.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8368" y="3730752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59669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2960" y="3858768"/>
            <a:ext cx="492861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Acceptance hierarchy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" y="4279392"/>
            <a:ext cx="46177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7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 &lt; s_a &lt; s_v &lt; p_forg_min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120" y="4709160"/>
            <a:ext cx="4553712" cy="329184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e0 = baseline channel error; s_a = acceptance threshold; s_v = verification/rejection threshold; p_forg_min defaults to 0.25.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355080" y="3730752"/>
            <a:ext cx="4983480" cy="1783080"/>
          </a:xfrm>
          <a:prstGeom prst="roundRect">
            <a:avLst>
              <a:gd name="adj" fmla="val 6154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97706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519672" y="3858768"/>
            <a:ext cx="465429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Chernoff-Hoeffding certificates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29400" y="4160520"/>
            <a:ext cx="4343400" cy="71323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P_forge &lt;= exp(-2 * delta^2 * 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P_FRR &lt;= exp(-2 * delta^2 * 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P_rep &lt;= 2 * exp(-0.5 * (s_v - s_a)^2 * L)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29400" y="5074920"/>
            <a:ext cx="4343400" cy="219456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module reports a security level as -log2(P_forge), capped at 256 bits.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Quantum Digital Signature (QDS) threat detection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4/5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EEF6FF">
              <a:alpha val="80000"/>
            </a:srgbClr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256032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system: deterministic threat engine and deliverables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" y="886968"/>
            <a:ext cx="9875520" cy="256032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implementation combines a simulator, adversarial channel, deterministic classifier, security math, and network telemetry.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170432"/>
            <a:ext cx="1051560" cy="41148"/>
          </a:xfrm>
          <a:prstGeom prst="rect">
            <a:avLst/>
          </a:prstGeom>
          <a:solidFill>
            <a:srgbClr val="BAE6FD"/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94360" y="1344168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284C7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58952" y="1472184"/>
            <a:ext cx="515721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Decision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075688"/>
            <a:ext cx="758952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0284C7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05256" y="2221992"/>
            <a:ext cx="685800" cy="731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Freshness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655064" y="2185416"/>
            <a:ext cx="109728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</a:rPr>
              <a:t>&gt;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19656" y="2075688"/>
            <a:ext cx="758952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0284C7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856232" y="2221992"/>
            <a:ext cx="685800" cy="731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QBER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606040" y="2185416"/>
            <a:ext cx="109728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</a:rPr>
              <a:t>&gt;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70632" y="2075688"/>
            <a:ext cx="758952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0284C7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807208" y="2221992"/>
            <a:ext cx="685800" cy="731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Contradictions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557016" y="2185416"/>
            <a:ext cx="109728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</a:rPr>
              <a:t>&gt;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721608" y="2075688"/>
            <a:ext cx="758952" cy="438912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0160">
            <a:solidFill>
              <a:srgbClr val="0284C7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758184" y="2221992"/>
            <a:ext cx="685800" cy="731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Asymmetry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507992" y="2185416"/>
            <a:ext cx="109728" cy="91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</a:rPr>
              <a:t>&gt;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72584" y="2075688"/>
            <a:ext cx="758952" cy="438912"/>
          </a:xfrm>
          <a:prstGeom prst="roundRect">
            <a:avLst>
              <a:gd name="adj" fmla="val 16667"/>
            </a:avLst>
          </a:prstGeom>
          <a:solidFill>
            <a:srgbClr val="FFE4E6"/>
          </a:solidFill>
          <a:ln w="10160">
            <a:solidFill>
              <a:srgbClr val="E11D48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09160" y="2221992"/>
            <a:ext cx="685800" cy="731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Classify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96112" y="27889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order: missing tokens -&gt; replay -&gt; impersonation -&gt; channel_qber &gt; 0.11 -&gt; clean authentic -&gt; dishonest verifier -&gt; repudiation -&gt; channel noise -&gt; external forgery.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492240" y="1344168"/>
            <a:ext cx="4846320" cy="2148840"/>
          </a:xfrm>
          <a:prstGeom prst="roundRect">
            <a:avLst>
              <a:gd name="adj" fmla="val 510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7C3AED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56832" y="1472184"/>
            <a:ext cx="451713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Socket-network demo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84848" y="1792224"/>
            <a:ext cx="4251960" cy="82296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ChannelProxyNode : port 8000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AliceDaemon : port 8001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Bob / Charlie : ports 8002 and 8003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33415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DetectorDaemon : port 8004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6784848" y="2788920"/>
            <a:ext cx="4251960" cy="301752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socket mode, qubits are represented as [bit, basis] descriptors. Eve modifies descriptors to mirror circuit-level measurement disturbance.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94360" y="3858768"/>
            <a:ext cx="10744200" cy="1691640"/>
          </a:xfrm>
          <a:prstGeom prst="roundRect">
            <a:avLst>
              <a:gd name="adj" fmla="val 6486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059669">
                <a:alpha val="7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58952" y="3986784"/>
            <a:ext cx="10415016" cy="237744"/>
          </a:xfrm>
          <a:prstGeom prst="rect">
            <a:avLst/>
          </a:prstGeom>
          <a:noFill/>
          <a:ln>
            <a:noFill/>
          </a:ln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Expected deliverables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96112" y="446227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D1FAE5">
              <a:alpha val="92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69264" y="4521708"/>
            <a:ext cx="154533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QDS teleportation core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907792" y="446227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FE4E6">
              <a:alpha val="92000"/>
            </a:srgbClr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980944" y="4521708"/>
            <a:ext cx="154533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Adversary testbed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19472" y="446227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BAE6FD">
              <a:alpha val="92000"/>
            </a:srgbClr>
          </a:solidFill>
          <a:ln w="12700">
            <a:solidFill>
              <a:srgbClr val="0284C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992624" y="4521708"/>
            <a:ext cx="154533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Deterministic threat engine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931152" y="446227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FEF3C7">
              <a:alpha val="92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004304" y="4521708"/>
            <a:ext cx="154533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Security math module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942832" y="446227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EDE9FE">
              <a:alpha val="9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015984" y="4521708"/>
            <a:ext cx="154533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Network visualizer / telemetry dashboard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32688" y="5074920"/>
            <a:ext cx="9829800" cy="274320"/>
          </a:xfrm>
          <a:prstGeom prst="rect">
            <a:avLst/>
          </a:prstGeom>
          <a:noFill/>
          <a:ln>
            <a:noFill/>
          </a:ln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limitation: this is a simulator, not a deployed quantum network. The eavesdropping model is intercept-resend and the socket demo passes classical descriptors rather than physical qubits.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Quantum Digital Signature (QDS) threat detection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5/5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Smart India Hackathon Proposal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Quantum-Inspired Cyber Threat Detection for Teleportation-Based QDS Systems</dc:title>
  <dc:subject>QDS eavesdropping detection proposal</dc:subject>
  <dc:creator>OpenAI</dc:creator>
  <cp:lastModifiedBy>OpenAI</cp:lastModifiedBy>
  <cp:revision>1</cp:revision>
  <dcterms:created xsi:type="dcterms:W3CDTF">2026-08-30T14:18:22Z</dcterms:created>
  <dcterms:modified xsi:type="dcterms:W3CDTF">2026-08-30T14:18:22Z</dcterms:modified>
</cp:coreProperties>
</file>