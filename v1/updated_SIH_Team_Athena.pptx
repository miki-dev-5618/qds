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9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0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hyperlink" Target="https://arxiv.org/html/1507.03333v3" TargetMode="Externa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507.03581" TargetMode="External"/><Relationship Id="rId11" Type="http://schemas.openxmlformats.org/officeDocument/2006/relationships/image" Target="../media/image17.png"/><Relationship Id="rId5" Type="http://schemas.openxmlformats.org/officeDocument/2006/relationships/hyperlink" Target="https://arxiv.org/html/quant-ph/0105032v2" TargetMode="External"/><Relationship Id="rId10" Type="http://schemas.openxmlformats.org/officeDocument/2006/relationships/image" Target="../media/image16.png"/><Relationship Id="rId4" Type="http://schemas.openxmlformats.org/officeDocument/2006/relationships/hyperlink" Target="https://arxiv.org/html/1403.5551v2" TargetMode="Externa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9329" y="851512"/>
            <a:ext cx="6362122" cy="4871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 ID –  26141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 Title- Quantum-Inspired Cyber Threat Detection for Digital Signature Security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Team ID-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Team Name- TEAM ATHENA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HEDWIG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9ACF3F-D62A-6CFE-A80F-EE56E36CE84B}"/>
              </a:ext>
            </a:extLst>
          </p:cNvPr>
          <p:cNvSpPr txBox="1"/>
          <p:nvPr/>
        </p:nvSpPr>
        <p:spPr>
          <a:xfrm>
            <a:off x="91440" y="1463040"/>
            <a:ext cx="3977640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u="sng" dirty="0"/>
              <a:t>PROBLEM</a:t>
            </a:r>
          </a:p>
          <a:p>
            <a:pPr lvl="0"/>
            <a:r>
              <a:rPr lang="en-IN" sz="1400" b="1" dirty="0"/>
              <a:t>Broken Classical PKI</a:t>
            </a:r>
            <a:r>
              <a:rPr lang="en-IN" sz="1400" dirty="0"/>
              <a:t>: Shor's algorithm breaks RSA and ECC in polynomial time, enabling retroactive decryption of classical keys. </a:t>
            </a:r>
          </a:p>
          <a:p>
            <a:pPr lvl="0"/>
            <a:r>
              <a:rPr lang="en-IN" sz="1400" b="1" dirty="0"/>
              <a:t>Insider Fraud &amp; Repudiation</a:t>
            </a:r>
            <a:r>
              <a:rPr lang="en-IN" sz="1400" dirty="0"/>
              <a:t>: Dishonest signers can selectively deny signatures, while rogue verifiers can exploit partial data to frame honest senders. </a:t>
            </a:r>
          </a:p>
          <a:p>
            <a:pPr lvl="0"/>
            <a:r>
              <a:rPr lang="en-IN" sz="1400" b="1" dirty="0"/>
              <a:t>Session &amp; Transport Exploits</a:t>
            </a:r>
            <a:r>
              <a:rPr lang="en-IN" sz="1400" dirty="0"/>
              <a:t>: Digital workflows remain vulnerable to signature replay, stale nonces, and unauthorized sender impersonation.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C5D29-C012-DE4C-565F-343EE2A2479E}"/>
              </a:ext>
            </a:extLst>
          </p:cNvPr>
          <p:cNvSpPr txBox="1"/>
          <p:nvPr/>
        </p:nvSpPr>
        <p:spPr>
          <a:xfrm>
            <a:off x="4069080" y="1463040"/>
            <a:ext cx="4343400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u="sng" dirty="0"/>
              <a:t>PROPOSED SOLUTION</a:t>
            </a:r>
          </a:p>
          <a:p>
            <a:pPr algn="l">
              <a:spcAft>
                <a:spcPts val="300"/>
              </a:spcAft>
            </a:pPr>
            <a:r>
              <a:rPr lang="en-IN" sz="1400" b="1" dirty="0"/>
              <a:t>Teleportation-Based QDS:</a:t>
            </a:r>
            <a:r>
              <a:rPr lang="en-IN" sz="1400" dirty="0"/>
              <a:t> Transmits signature tokens via Bell pairs (|</a:t>
            </a:r>
            <a:r>
              <a:rPr lang="el-GR" sz="1400" dirty="0"/>
              <a:t>Φ^+⟩) </a:t>
            </a:r>
            <a:r>
              <a:rPr lang="en-IN" sz="1400" dirty="0"/>
              <a:t>and Pauli feed-forward gates (𝑋,𝑍) without moving fragile qubits across open channels. </a:t>
            </a:r>
          </a:p>
          <a:p>
            <a:pPr algn="l">
              <a:spcAft>
                <a:spcPts val="300"/>
              </a:spcAft>
            </a:pPr>
            <a:r>
              <a:rPr lang="en-IN" sz="1400" b="1" dirty="0"/>
              <a:t>Orthogonal State Elimination:</a:t>
            </a:r>
            <a:r>
              <a:rPr lang="en-IN" sz="1400" dirty="0"/>
              <a:t> Verifiers record impossible quantum states using projective measurements rather than storing raw secret keys. </a:t>
            </a:r>
          </a:p>
          <a:p>
            <a:pPr algn="l">
              <a:spcAft>
                <a:spcPts val="300"/>
              </a:spcAft>
            </a:pPr>
            <a:r>
              <a:rPr lang="en-IN" sz="1400" b="1" dirty="0"/>
              <a:t>Keep-or-Forward Symmetrisation: </a:t>
            </a:r>
            <a:r>
              <a:rPr lang="en-IN" sz="1400" dirty="0"/>
              <a:t>Verifiers randomly swap tokens, preventing the signer from repudiating messages or cheating individual parties.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BDD112-D8B1-55AF-BA51-51592BC74897}"/>
              </a:ext>
            </a:extLst>
          </p:cNvPr>
          <p:cNvSpPr txBox="1"/>
          <p:nvPr/>
        </p:nvSpPr>
        <p:spPr>
          <a:xfrm>
            <a:off x="8686800" y="1463040"/>
            <a:ext cx="3136392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u="sng" dirty="0"/>
              <a:t>ADDRESSING THE PROBLEM</a:t>
            </a:r>
          </a:p>
          <a:p>
            <a:pPr algn="l">
              <a:spcAft>
                <a:spcPts val="300"/>
              </a:spcAft>
            </a:pPr>
            <a:r>
              <a:rPr lang="en-IN" sz="1400" b="1" dirty="0"/>
              <a:t>Physic-Based Security: </a:t>
            </a:r>
            <a:r>
              <a:rPr lang="en-IN" sz="1400" dirty="0"/>
              <a:t>Uses Quantum No-Cloning Theorem and Uncertainty Principle to overcome the vulnerability of Shor's algorithm on RSA/ECC algorithms.  </a:t>
            </a:r>
          </a:p>
          <a:p>
            <a:pPr algn="l">
              <a:spcAft>
                <a:spcPts val="300"/>
              </a:spcAft>
            </a:pPr>
            <a:r>
              <a:rPr lang="en-IN" sz="1400" b="1" dirty="0"/>
              <a:t>Direct eavesdropper detection:</a:t>
            </a:r>
            <a:r>
              <a:rPr lang="en-IN" sz="1400" dirty="0"/>
              <a:t> Mid-channel eavesdropping disrupts superpositions to create warnings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8E823D-B8DC-CC45-6D46-E112E540A6AC}"/>
              </a:ext>
            </a:extLst>
          </p:cNvPr>
          <p:cNvSpPr txBox="1"/>
          <p:nvPr/>
        </p:nvSpPr>
        <p:spPr>
          <a:xfrm>
            <a:off x="8686800" y="4020467"/>
            <a:ext cx="3136392" cy="2108269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u="sng" dirty="0">
                <a:solidFill>
                  <a:srgbClr val="C00000"/>
                </a:solidFill>
              </a:rPr>
              <a:t>WHAT’S DIFFERENT</a:t>
            </a:r>
          </a:p>
          <a:p>
            <a:pPr algn="l">
              <a:spcAft>
                <a:spcPts val="300"/>
              </a:spcAft>
            </a:pPr>
            <a:r>
              <a:rPr lang="en-IN" sz="1400" b="1" dirty="0"/>
              <a:t>100% Deterministic (Strict Non-AI): </a:t>
            </a:r>
            <a:r>
              <a:rPr lang="en-IN" sz="1400" dirty="0"/>
              <a:t>Avoids heuristic ML vulnerabilities, false positives, and adversarial evasion through exact physical observables. </a:t>
            </a:r>
          </a:p>
          <a:p>
            <a:pPr algn="l">
              <a:spcAft>
                <a:spcPts val="300"/>
              </a:spcAft>
            </a:pPr>
            <a:r>
              <a:rPr lang="en-IN" sz="1400" dirty="0"/>
              <a:t>Asymmetric Verification: Verifiers never hold the complete signature, making insider forgery mathematically impossible.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21155F-08EE-69F2-945F-87070DD04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91" y="42140"/>
            <a:ext cx="1448219" cy="1448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637645-4600-3BAC-31F2-D38E3173F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" y="3825224"/>
            <a:ext cx="8436282" cy="2452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5720"/>
            <a:ext cx="1444752" cy="1444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CD6F72-45BE-624C-CBDF-BF44242D1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46" y="1413146"/>
            <a:ext cx="10312908" cy="4514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9C873-C97F-178C-8EDC-0DC828603D98}"/>
              </a:ext>
            </a:extLst>
          </p:cNvPr>
          <p:cNvSpPr txBox="1"/>
          <p:nvPr/>
        </p:nvSpPr>
        <p:spPr>
          <a:xfrm>
            <a:off x="365760" y="1280160"/>
            <a:ext cx="539496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FEASIBILITY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Hardware Independent Deployment</a:t>
            </a:r>
            <a:r>
              <a:rPr lang="en-US" sz="1400" dirty="0"/>
              <a:t>: Capable of executing completely within conventional computer systems through the </a:t>
            </a:r>
            <a:r>
              <a:rPr lang="en-US" sz="1400" dirty="0" err="1"/>
              <a:t>Qiskit</a:t>
            </a:r>
            <a:r>
              <a:rPr lang="en-US" sz="1400" dirty="0"/>
              <a:t> Aer simulator, not requiring any superconducting hardware. 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Extremely Efficient Computational Performance</a:t>
            </a:r>
            <a:r>
              <a:rPr lang="en-US" sz="1400" dirty="0"/>
              <a:t>: Instant validation possible with O(1) table lookups and deterministic rules.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7FB0F-28EE-8706-640C-39C6035E940F}"/>
              </a:ext>
            </a:extLst>
          </p:cNvPr>
          <p:cNvSpPr txBox="1"/>
          <p:nvPr/>
        </p:nvSpPr>
        <p:spPr>
          <a:xfrm>
            <a:off x="6172200" y="1280160"/>
            <a:ext cx="565099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LIKELY CHALLENGES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Decoherence on Channels</a:t>
            </a:r>
            <a:r>
              <a:rPr lang="en-US" sz="1400" dirty="0"/>
              <a:t>: Noise from the environment (bit/phase flips) can simulate the effects of an eavesdropper. 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Memory Lifetime</a:t>
            </a:r>
            <a:r>
              <a:rPr lang="en-US" sz="1400" dirty="0"/>
              <a:t>: Long-term quantum memory storage is unfeasible on classical technology and machinery.</a:t>
            </a:r>
            <a:endParaRPr lang="en-I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613E43-3D42-CE24-18F9-DABAC7136515}"/>
                  </a:ext>
                </a:extLst>
              </p:cNvPr>
              <p:cNvSpPr txBox="1"/>
              <p:nvPr/>
            </p:nvSpPr>
            <p:spPr>
              <a:xfrm>
                <a:off x="6172200" y="2743200"/>
                <a:ext cx="5650992" cy="146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300"/>
                  </a:spcAft>
                </a:pPr>
                <a:r>
                  <a:rPr lang="en-IN" sz="1400" b="1" dirty="0"/>
                  <a:t>PROBABLE SOLUTIONS</a:t>
                </a:r>
              </a:p>
              <a:p>
                <a:pPr lvl="0">
                  <a:spcAft>
                    <a:spcPts val="300"/>
                  </a:spcAft>
                </a:pPr>
                <a:r>
                  <a:rPr lang="en-US" sz="1400" b="1" dirty="0"/>
                  <a:t>Threshold Bound Values</a:t>
                </a:r>
                <a:r>
                  <a:rPr lang="en-US" sz="1400" dirty="0"/>
                  <a:t>: Mathematical bounds that define tolerances for legitimate noise and attacks </a:t>
                </a:r>
                <a:r>
                  <a:rPr lang="en-IN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sz="1400" dirty="0"/>
                  <a:t>)</a:t>
                </a:r>
                <a:endParaRPr lang="en-US" sz="1400" dirty="0"/>
              </a:p>
              <a:p>
                <a:pPr lvl="0">
                  <a:spcAft>
                    <a:spcPts val="300"/>
                  </a:spcAft>
                </a:pPr>
                <a:r>
                  <a:rPr lang="en-US" sz="1400" b="1" dirty="0"/>
                  <a:t>Immediate Projective Measurement</a:t>
                </a:r>
                <a:r>
                  <a:rPr lang="en-US" sz="1400" dirty="0"/>
                  <a:t>: Tokens are measured as soon as they are received, hence no quantum memory is required.</a:t>
                </a:r>
                <a:endParaRPr lang="en-IN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613E43-3D42-CE24-18F9-DABAC713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743200"/>
                <a:ext cx="5650992" cy="1463040"/>
              </a:xfrm>
              <a:prstGeom prst="rect">
                <a:avLst/>
              </a:prstGeom>
              <a:blipFill>
                <a:blip r:embed="rId4"/>
                <a:stretch>
                  <a:fillRect l="-885" t="-1802" b="-3904"/>
                </a:stretch>
              </a:blipFill>
            </p:spPr>
            <p:txBody>
              <a:bodyPr/>
              <a:lstStyle/>
              <a:p>
                <a:pPr>
                  <a:spcAft>
                    <a:spcPts val="300"/>
                  </a:spcAft>
                </a:pPr>
                <a:r>
                  <a:rPr lang="en-IN" sz="1400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FD390B1-CD9A-1939-472F-3A8BD584B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591" y="42140"/>
            <a:ext cx="1448219" cy="1448219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365760" y="3090672"/>
            <a:ext cx="5394960" cy="2834640"/>
            <a:chOff x="365760" y="3090672"/>
            <a:chExt cx="5394960" cy="2834640"/>
          </a:xfrm>
        </p:grpSpPr>
        <p:sp>
          <p:nvSpPr>
            <p:cNvPr id="17410" name="TextBox 17409"/>
            <p:cNvSpPr txBox="1"/>
            <p:nvPr/>
          </p:nvSpPr>
          <p:spPr>
            <a:xfrm>
              <a:off x="365760" y="3090672"/>
              <a:ext cx="53949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Calibri"/>
                </a:rPr>
                <a:t>RUNS ON STANDARD HARDWARE</a:t>
              </a:r>
            </a:p>
          </p:txBody>
        </p:sp>
        <p:sp>
          <p:nvSpPr>
            <p:cNvPr id="17411" name="Rounded Rectangle 17410"/>
            <p:cNvSpPr/>
            <p:nvPr/>
          </p:nvSpPr>
          <p:spPr>
            <a:xfrm>
              <a:off x="365760" y="345643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2" name="Oval 17411"/>
            <p:cNvSpPr/>
            <p:nvPr/>
          </p:nvSpPr>
          <p:spPr>
            <a:xfrm>
              <a:off x="502920" y="3538728"/>
              <a:ext cx="384048" cy="38404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3" name="Picture 17412" descr="desktop_w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788" y="3625596"/>
              <a:ext cx="210312" cy="210312"/>
            </a:xfrm>
            <a:prstGeom prst="rect">
              <a:avLst/>
            </a:prstGeom>
          </p:spPr>
        </p:pic>
        <p:sp>
          <p:nvSpPr>
            <p:cNvPr id="17414" name="TextBox 17413"/>
            <p:cNvSpPr txBox="1"/>
            <p:nvPr/>
          </p:nvSpPr>
          <p:spPr>
            <a:xfrm>
              <a:off x="1051560" y="350215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2937"/>
                  </a:solidFill>
                  <a:latin typeface="Calibri"/>
                </a:rPr>
                <a:t>React.js dashboard</a:t>
              </a:r>
              <a:r>
                <a:rPr sz="1100" b="0" i="0">
                  <a:solidFill>
                    <a:srgbClr val="5B6472"/>
                  </a:solidFill>
                  <a:latin typeface="Calibri"/>
                </a:rPr>
                <a:t>   live attack telemetry</a:t>
              </a:r>
            </a:p>
          </p:txBody>
        </p:sp>
        <p:sp>
          <p:nvSpPr>
            <p:cNvPr id="17415" name="Rounded Rectangle 17414"/>
            <p:cNvSpPr/>
            <p:nvPr/>
          </p:nvSpPr>
          <p:spPr>
            <a:xfrm>
              <a:off x="365760" y="409651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6" name="Oval 17415"/>
            <p:cNvSpPr/>
            <p:nvPr/>
          </p:nvSpPr>
          <p:spPr>
            <a:xfrm>
              <a:off x="502920" y="4178808"/>
              <a:ext cx="384048" cy="38404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7" name="Picture 17416" descr="cogs_w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9788" y="4265676"/>
              <a:ext cx="210312" cy="210312"/>
            </a:xfrm>
            <a:prstGeom prst="rect">
              <a:avLst/>
            </a:prstGeom>
          </p:spPr>
        </p:pic>
        <p:sp>
          <p:nvSpPr>
            <p:cNvPr id="17418" name="TextBox 17417"/>
            <p:cNvSpPr txBox="1"/>
            <p:nvPr/>
          </p:nvSpPr>
          <p:spPr>
            <a:xfrm>
              <a:off x="1051560" y="414223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2937"/>
                  </a:solidFill>
                  <a:latin typeface="Calibri"/>
                </a:rPr>
                <a:t>Deterministic threat engine</a:t>
              </a:r>
              <a:r>
                <a:rPr sz="1100" b="0" i="0">
                  <a:solidFill>
                    <a:srgbClr val="5B6472"/>
                  </a:solidFill>
                  <a:latin typeface="Calibri"/>
                </a:rPr>
                <a:t>   O(1) table lookups, rule-based</a:t>
              </a:r>
            </a:p>
          </p:txBody>
        </p:sp>
        <p:sp>
          <p:nvSpPr>
            <p:cNvPr id="17419" name="Rounded Rectangle 17418"/>
            <p:cNvSpPr/>
            <p:nvPr/>
          </p:nvSpPr>
          <p:spPr>
            <a:xfrm>
              <a:off x="365760" y="473659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0" name="Oval 17419"/>
            <p:cNvSpPr/>
            <p:nvPr/>
          </p:nvSpPr>
          <p:spPr>
            <a:xfrm>
              <a:off x="502920" y="4818888"/>
              <a:ext cx="384048" cy="38404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1" name="Picture 17420" descr="atom_w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9788" y="4905756"/>
              <a:ext cx="210312" cy="210312"/>
            </a:xfrm>
            <a:prstGeom prst="rect">
              <a:avLst/>
            </a:prstGeom>
          </p:spPr>
        </p:pic>
        <p:sp>
          <p:nvSpPr>
            <p:cNvPr id="17422" name="TextBox 17421"/>
            <p:cNvSpPr txBox="1"/>
            <p:nvPr/>
          </p:nvSpPr>
          <p:spPr>
            <a:xfrm>
              <a:off x="1051560" y="478231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2937"/>
                  </a:solidFill>
                  <a:latin typeface="Calibri"/>
                </a:rPr>
                <a:t>Qiskit Aer simulator</a:t>
              </a:r>
              <a:r>
                <a:rPr sz="1100" b="0" i="0">
                  <a:solidFill>
                    <a:srgbClr val="5B6472"/>
                  </a:solidFill>
                  <a:latin typeface="Calibri"/>
                </a:rPr>
                <a:t>   quantum circuits and noise models</a:t>
              </a:r>
            </a:p>
          </p:txBody>
        </p:sp>
        <p:sp>
          <p:nvSpPr>
            <p:cNvPr id="17423" name="Rounded Rectangle 17422"/>
            <p:cNvSpPr/>
            <p:nvPr/>
          </p:nvSpPr>
          <p:spPr>
            <a:xfrm>
              <a:off x="365760" y="537667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Oval 17423"/>
            <p:cNvSpPr/>
            <p:nvPr/>
          </p:nvSpPr>
          <p:spPr>
            <a:xfrm>
              <a:off x="502920" y="5458968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5" name="Picture 17424" descr="server_navy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9788" y="5545836"/>
              <a:ext cx="210312" cy="210312"/>
            </a:xfrm>
            <a:prstGeom prst="rect">
              <a:avLst/>
            </a:prstGeom>
          </p:spPr>
        </p:pic>
        <p:sp>
          <p:nvSpPr>
            <p:cNvPr id="17426" name="TextBox 17425"/>
            <p:cNvSpPr txBox="1"/>
            <p:nvPr/>
          </p:nvSpPr>
          <p:spPr>
            <a:xfrm>
              <a:off x="1051560" y="542239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Calibri"/>
                </a:rPr>
                <a:t>Conventional computer</a:t>
              </a:r>
              <a:r>
                <a:rPr sz="1100" b="0" i="0">
                  <a:solidFill>
                    <a:srgbClr val="D6E0F0"/>
                  </a:solidFill>
                  <a:latin typeface="Calibri"/>
                </a:rPr>
                <a:t>   no superconducting hardware needed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72200" y="4370832"/>
            <a:ext cx="5650992" cy="1600200"/>
            <a:chOff x="6172200" y="4370832"/>
            <a:chExt cx="5650992" cy="1600200"/>
          </a:xfrm>
        </p:grpSpPr>
        <p:sp>
          <p:nvSpPr>
            <p:cNvPr id="17427" name="TextBox 17426"/>
            <p:cNvSpPr txBox="1"/>
            <p:nvPr/>
          </p:nvSpPr>
          <p:spPr>
            <a:xfrm>
              <a:off x="6172200" y="4370832"/>
              <a:ext cx="565099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Calibri"/>
                </a:rPr>
                <a:t>NOISE vs. ATTACK THRESHOLDS</a:t>
              </a:r>
            </a:p>
          </p:txBody>
        </p:sp>
        <p:sp>
          <p:nvSpPr>
            <p:cNvPr id="17428" name="Rectangle 17427"/>
            <p:cNvSpPr/>
            <p:nvPr/>
          </p:nvSpPr>
          <p:spPr>
            <a:xfrm>
              <a:off x="6355080" y="5074920"/>
              <a:ext cx="2748321" cy="310896"/>
            </a:xfrm>
            <a:prstGeom prst="rect">
              <a:avLst/>
            </a:prstGeom>
            <a:solidFill>
              <a:srgbClr val="3FA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9" name="TextBox 17428"/>
            <p:cNvSpPr txBox="1"/>
            <p:nvPr/>
          </p:nvSpPr>
          <p:spPr>
            <a:xfrm>
              <a:off x="6355080" y="5458968"/>
              <a:ext cx="2748321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050" b="1" i="0">
                  <a:solidFill>
                    <a:srgbClr val="1E8449"/>
                  </a:solidFill>
                  <a:latin typeface="Calibri"/>
                </a:rPr>
                <a:t>Legitimate noise</a:t>
              </a:r>
            </a:p>
          </p:txBody>
        </p:sp>
        <p:sp>
          <p:nvSpPr>
            <p:cNvPr id="17430" name="Rectangle 17429"/>
            <p:cNvSpPr/>
            <p:nvPr/>
          </p:nvSpPr>
          <p:spPr>
            <a:xfrm>
              <a:off x="9103401" y="5074920"/>
              <a:ext cx="1162751" cy="310896"/>
            </a:xfrm>
            <a:prstGeom prst="rect">
              <a:avLst/>
            </a:prstGeom>
            <a:solidFill>
              <a:srgbClr val="F0B4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TextBox 17430"/>
            <p:cNvSpPr txBox="1"/>
            <p:nvPr/>
          </p:nvSpPr>
          <p:spPr>
            <a:xfrm>
              <a:off x="9103401" y="5458968"/>
              <a:ext cx="1162751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050" b="1" i="0">
                  <a:solidFill>
                    <a:srgbClr val="D68910"/>
                  </a:solidFill>
                  <a:latin typeface="Calibri"/>
                </a:rPr>
                <a:t>Safety margin</a:t>
              </a:r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10266152" y="5074920"/>
              <a:ext cx="1374160" cy="310896"/>
            </a:xfrm>
            <a:prstGeom prst="rect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3" name="TextBox 17432"/>
            <p:cNvSpPr txBox="1"/>
            <p:nvPr/>
          </p:nvSpPr>
          <p:spPr>
            <a:xfrm>
              <a:off x="10266152" y="5458968"/>
              <a:ext cx="137416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050" b="1" i="0">
                  <a:solidFill>
                    <a:srgbClr val="C0392B"/>
                  </a:solidFill>
                  <a:latin typeface="Calibri"/>
                </a:rPr>
                <a:t>Attack flagged</a:t>
              </a:r>
            </a:p>
          </p:txBody>
        </p:sp>
        <p:cxnSp>
          <p:nvCxnSpPr>
            <p:cNvPr id="17434" name="Connector 17433"/>
            <p:cNvCxnSpPr/>
            <p:nvPr/>
          </p:nvCxnSpPr>
          <p:spPr>
            <a:xfrm>
              <a:off x="7834945" y="4965192"/>
              <a:ext cx="0" cy="420624"/>
            </a:xfrm>
            <a:prstGeom prst="line">
              <a:avLst/>
            </a:prstGeom>
            <a:ln w="19050">
              <a:solidFill>
                <a:srgbClr val="1F29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35" name="TextBox 17434"/>
            <p:cNvSpPr txBox="1"/>
            <p:nvPr/>
          </p:nvSpPr>
          <p:spPr>
            <a:xfrm>
              <a:off x="7514905" y="4654296"/>
              <a:ext cx="640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500" b="0" i="1">
                  <a:solidFill>
                    <a:srgbClr val="1F2937"/>
                  </a:solidFill>
                  <a:latin typeface="Cambria"/>
                </a:rPr>
                <a:t>e</a:t>
              </a:r>
              <a:r>
                <a:rPr sz="1500" b="0" i="1" baseline="-25000">
                  <a:solidFill>
                    <a:srgbClr val="1F2937"/>
                  </a:solidFill>
                  <a:latin typeface="Cambria"/>
                </a:rPr>
                <a:t>0</a:t>
              </a:r>
            </a:p>
          </p:txBody>
        </p:sp>
        <p:cxnSp>
          <p:nvCxnSpPr>
            <p:cNvPr id="17436" name="Connector 17435"/>
            <p:cNvCxnSpPr/>
            <p:nvPr/>
          </p:nvCxnSpPr>
          <p:spPr>
            <a:xfrm>
              <a:off x="9103401" y="4965192"/>
              <a:ext cx="0" cy="420624"/>
            </a:xfrm>
            <a:prstGeom prst="line">
              <a:avLst/>
            </a:prstGeom>
            <a:ln w="19050">
              <a:solidFill>
                <a:srgbClr val="1F29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37" name="TextBox 17436"/>
            <p:cNvSpPr txBox="1"/>
            <p:nvPr/>
          </p:nvSpPr>
          <p:spPr>
            <a:xfrm>
              <a:off x="8783361" y="4654296"/>
              <a:ext cx="640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500" b="0" i="1">
                  <a:solidFill>
                    <a:srgbClr val="1F2937"/>
                  </a:solidFill>
                  <a:latin typeface="Cambria"/>
                </a:rPr>
                <a:t>s</a:t>
              </a:r>
              <a:r>
                <a:rPr sz="1500" b="0" i="1" baseline="-25000">
                  <a:solidFill>
                    <a:srgbClr val="1F2937"/>
                  </a:solidFill>
                  <a:latin typeface="Cambria"/>
                </a:rPr>
                <a:t>a</a:t>
              </a:r>
            </a:p>
          </p:txBody>
        </p:sp>
        <p:cxnSp>
          <p:nvCxnSpPr>
            <p:cNvPr id="17438" name="Connector 17437"/>
            <p:cNvCxnSpPr/>
            <p:nvPr/>
          </p:nvCxnSpPr>
          <p:spPr>
            <a:xfrm>
              <a:off x="10266152" y="4965192"/>
              <a:ext cx="0" cy="420624"/>
            </a:xfrm>
            <a:prstGeom prst="line">
              <a:avLst/>
            </a:prstGeom>
            <a:ln w="19050">
              <a:solidFill>
                <a:srgbClr val="1F29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39" name="TextBox 17438"/>
            <p:cNvSpPr txBox="1"/>
            <p:nvPr/>
          </p:nvSpPr>
          <p:spPr>
            <a:xfrm>
              <a:off x="9946112" y="4654296"/>
              <a:ext cx="640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500" b="0" i="1">
                  <a:solidFill>
                    <a:srgbClr val="1F2937"/>
                  </a:solidFill>
                  <a:latin typeface="Cambria"/>
                </a:rPr>
                <a:t>s</a:t>
              </a:r>
              <a:r>
                <a:rPr sz="1500" b="0" i="1" baseline="-25000">
                  <a:solidFill>
                    <a:srgbClr val="1F2937"/>
                  </a:solidFill>
                  <a:latin typeface="Cambria"/>
                </a:rPr>
                <a:t>v</a:t>
              </a:r>
            </a:p>
          </p:txBody>
        </p:sp>
        <p:sp>
          <p:nvSpPr>
            <p:cNvPr id="17440" name="TextBox 17439"/>
            <p:cNvSpPr txBox="1"/>
            <p:nvPr/>
          </p:nvSpPr>
          <p:spPr>
            <a:xfrm>
              <a:off x="6355080" y="5751576"/>
              <a:ext cx="528523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sz="1000" b="0" i="0">
                  <a:solidFill>
                    <a:srgbClr val="5B6472"/>
                  </a:solidFill>
                  <a:latin typeface="Calibri"/>
                </a:rPr>
                <a:t>mismatch rate (QBER) increases  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430F6D-C854-87C6-914D-8597474C8E67}"/>
              </a:ext>
            </a:extLst>
          </p:cNvPr>
          <p:cNvSpPr txBox="1"/>
          <p:nvPr/>
        </p:nvSpPr>
        <p:spPr>
          <a:xfrm>
            <a:off x="365760" y="1280160"/>
            <a:ext cx="539496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IMPACTS</a:t>
            </a:r>
          </a:p>
          <a:p>
            <a:pPr lvl="0">
              <a:spcAft>
                <a:spcPts val="300"/>
              </a:spcAft>
            </a:pPr>
            <a:r>
              <a:rPr lang="en-IN" sz="1400" b="1" dirty="0" err="1"/>
              <a:t>Defense</a:t>
            </a:r>
            <a:r>
              <a:rPr lang="en-IN" sz="1400" b="1" dirty="0"/>
              <a:t> &amp; Strategic Sectors</a:t>
            </a:r>
            <a:r>
              <a:rPr lang="en-IN" sz="1400" dirty="0"/>
              <a:t>: Neutralizes "Harvest Now, Decrypt Later" threats against classified military communications.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FinTech &amp; Banking</a:t>
            </a:r>
            <a:r>
              <a:rPr lang="en-IN" sz="1400" dirty="0"/>
              <a:t>: Secures high-value transactions with non-repudiable, quantum-proof validation.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Government Infrastructure</a:t>
            </a:r>
            <a:r>
              <a:rPr lang="en-IN" sz="1400" dirty="0"/>
              <a:t>: Provides tamper-proof authentication for national identity and critical document verification.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7C3B2-E511-B5B4-355A-83D9184B4799}"/>
              </a:ext>
            </a:extLst>
          </p:cNvPr>
          <p:cNvSpPr txBox="1"/>
          <p:nvPr/>
        </p:nvSpPr>
        <p:spPr>
          <a:xfrm>
            <a:off x="6172200" y="1280160"/>
            <a:ext cx="5650992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BENEFITS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Information-Theoretic Security</a:t>
            </a:r>
            <a:r>
              <a:rPr lang="en-IN" sz="1400" dirty="0"/>
              <a:t>: Protection backed by physical laws (No-Cloning Theorem), not computational complexity.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Explainable &amp; Auditable</a:t>
            </a:r>
            <a:r>
              <a:rPr lang="en-IN" sz="1400" dirty="0"/>
              <a:t>: Eliminates black-box AI bias and hallucinations, meeting rigorous regulatory compliance standards.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Zero GPU Overhead</a:t>
            </a:r>
            <a:r>
              <a:rPr lang="en-IN" sz="1400" dirty="0"/>
              <a:t>: Minimal energy and compute footprint compared to large-scale machine learning threat models. </a:t>
            </a:r>
          </a:p>
        </p:txBody>
      </p:sp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5720"/>
            <a:ext cx="1444752" cy="1444752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365760" y="3611880"/>
            <a:ext cx="5394960" cy="2368296"/>
            <a:chOff x="365760" y="3611880"/>
            <a:chExt cx="5394960" cy="2368296"/>
          </a:xfrm>
        </p:grpSpPr>
        <p:sp>
          <p:nvSpPr>
            <p:cNvPr id="17411" name="Rounded Rectangle 17410"/>
            <p:cNvSpPr/>
            <p:nvPr/>
          </p:nvSpPr>
          <p:spPr>
            <a:xfrm>
              <a:off x="365760" y="3611880"/>
              <a:ext cx="1645920" cy="2368296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2" name="Oval 17411"/>
            <p:cNvSpPr/>
            <p:nvPr/>
          </p:nvSpPr>
          <p:spPr>
            <a:xfrm>
              <a:off x="804672" y="3922776"/>
              <a:ext cx="768096" cy="768096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3" name="Picture 17412" descr="shield_w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1334" y="4099438"/>
              <a:ext cx="414772" cy="414772"/>
            </a:xfrm>
            <a:prstGeom prst="rect">
              <a:avLst/>
            </a:prstGeom>
          </p:spPr>
        </p:pic>
        <p:sp>
          <p:nvSpPr>
            <p:cNvPr id="17414" name="TextBox 17413"/>
            <p:cNvSpPr txBox="1"/>
            <p:nvPr/>
          </p:nvSpPr>
          <p:spPr>
            <a:xfrm>
              <a:off x="457200" y="4873752"/>
              <a:ext cx="14630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300" b="1" i="0">
                  <a:solidFill>
                    <a:srgbClr val="1F3864"/>
                  </a:solidFill>
                  <a:latin typeface="Calibri"/>
                </a:rPr>
                <a:t>Defense</a:t>
              </a:r>
            </a:p>
          </p:txBody>
        </p:sp>
        <p:sp>
          <p:nvSpPr>
            <p:cNvPr id="17415" name="TextBox 17414"/>
            <p:cNvSpPr txBox="1"/>
            <p:nvPr/>
          </p:nvSpPr>
          <p:spPr>
            <a:xfrm>
              <a:off x="493776" y="5202936"/>
              <a:ext cx="1389888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100" b="0" i="0">
                  <a:solidFill>
                    <a:srgbClr val="1F2937"/>
                  </a:solidFill>
                  <a:latin typeface="Calibri"/>
                </a:rPr>
                <a:t>Blocks “harvest now, decrypt later”</a:t>
              </a:r>
            </a:p>
          </p:txBody>
        </p:sp>
        <p:sp>
          <p:nvSpPr>
            <p:cNvPr id="17416" name="Rounded Rectangle 17415"/>
            <p:cNvSpPr/>
            <p:nvPr/>
          </p:nvSpPr>
          <p:spPr>
            <a:xfrm>
              <a:off x="2240280" y="3611880"/>
              <a:ext cx="1645920" cy="2368296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7" name="Oval 17416"/>
            <p:cNvSpPr/>
            <p:nvPr/>
          </p:nvSpPr>
          <p:spPr>
            <a:xfrm>
              <a:off x="2679192" y="3922776"/>
              <a:ext cx="768096" cy="76809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8" name="Picture 17417" descr="rupee_w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5854" y="4099438"/>
              <a:ext cx="414772" cy="414772"/>
            </a:xfrm>
            <a:prstGeom prst="rect">
              <a:avLst/>
            </a:prstGeom>
          </p:spPr>
        </p:pic>
        <p:sp>
          <p:nvSpPr>
            <p:cNvPr id="17419" name="TextBox 17418"/>
            <p:cNvSpPr txBox="1"/>
            <p:nvPr/>
          </p:nvSpPr>
          <p:spPr>
            <a:xfrm>
              <a:off x="2331720" y="4873752"/>
              <a:ext cx="14630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300" b="1" i="0">
                  <a:solidFill>
                    <a:srgbClr val="1F3864"/>
                  </a:solidFill>
                  <a:latin typeface="Calibri"/>
                </a:rPr>
                <a:t>FinTech &amp; Banking</a:t>
              </a:r>
            </a:p>
          </p:txBody>
        </p:sp>
        <p:sp>
          <p:nvSpPr>
            <p:cNvPr id="17420" name="TextBox 17419"/>
            <p:cNvSpPr txBox="1"/>
            <p:nvPr/>
          </p:nvSpPr>
          <p:spPr>
            <a:xfrm>
              <a:off x="2368296" y="5202936"/>
              <a:ext cx="1389888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100" b="0" i="0">
                  <a:solidFill>
                    <a:srgbClr val="1F2937"/>
                  </a:solidFill>
                  <a:latin typeface="Calibri"/>
                </a:rPr>
                <a:t>Non-repudiable, quantum-proof transactions</a:t>
              </a:r>
            </a:p>
          </p:txBody>
        </p:sp>
        <p:sp>
          <p:nvSpPr>
            <p:cNvPr id="17421" name="Rounded Rectangle 17420"/>
            <p:cNvSpPr/>
            <p:nvPr/>
          </p:nvSpPr>
          <p:spPr>
            <a:xfrm>
              <a:off x="4114800" y="3611880"/>
              <a:ext cx="1645920" cy="2368296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2" name="Oval 17421"/>
            <p:cNvSpPr/>
            <p:nvPr/>
          </p:nvSpPr>
          <p:spPr>
            <a:xfrm>
              <a:off x="4553712" y="3922776"/>
              <a:ext cx="768096" cy="768096"/>
            </a:xfrm>
            <a:prstGeom prst="ellipse">
              <a:avLst/>
            </a:prstGeom>
            <a:solidFill>
              <a:srgbClr val="1E844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3" name="Picture 17422" descr="idcard_w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30374" y="4099438"/>
              <a:ext cx="414772" cy="414772"/>
            </a:xfrm>
            <a:prstGeom prst="rect">
              <a:avLst/>
            </a:prstGeom>
          </p:spPr>
        </p:pic>
        <p:sp>
          <p:nvSpPr>
            <p:cNvPr id="17424" name="TextBox 17423"/>
            <p:cNvSpPr txBox="1"/>
            <p:nvPr/>
          </p:nvSpPr>
          <p:spPr>
            <a:xfrm>
              <a:off x="4206240" y="4873752"/>
              <a:ext cx="14630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300" b="1" i="0">
                  <a:solidFill>
                    <a:srgbClr val="1F3864"/>
                  </a:solidFill>
                  <a:latin typeface="Calibri"/>
                </a:rPr>
                <a:t>Government</a:t>
              </a:r>
            </a:p>
          </p:txBody>
        </p:sp>
        <p:sp>
          <p:nvSpPr>
            <p:cNvPr id="17425" name="TextBox 17424"/>
            <p:cNvSpPr txBox="1"/>
            <p:nvPr/>
          </p:nvSpPr>
          <p:spPr>
            <a:xfrm>
              <a:off x="4242816" y="5202936"/>
              <a:ext cx="1389888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100" b="0" i="0">
                  <a:solidFill>
                    <a:srgbClr val="1F2937"/>
                  </a:solidFill>
                  <a:latin typeface="Calibri"/>
                </a:rPr>
                <a:t>Tamper-proof identity and documents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72200" y="3611880"/>
            <a:ext cx="5650992" cy="2331720"/>
            <a:chOff x="6172200" y="3611880"/>
            <a:chExt cx="5650992" cy="2331720"/>
          </a:xfrm>
        </p:grpSpPr>
        <p:sp>
          <p:nvSpPr>
            <p:cNvPr id="17426" name="Rounded Rectangle 17425"/>
            <p:cNvSpPr/>
            <p:nvPr/>
          </p:nvSpPr>
          <p:spPr>
            <a:xfrm>
              <a:off x="7616952" y="3611880"/>
              <a:ext cx="2066544" cy="411480"/>
            </a:xfrm>
            <a:prstGeom prst="roundRect">
              <a:avLst>
                <a:gd name="adj" fmla="val 20000"/>
              </a:avLst>
            </a:prstGeom>
            <a:solidFill>
              <a:srgbClr val="FDED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7" name="Picture 17426" descr="times_r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36992" y="3712464"/>
              <a:ext cx="210312" cy="210312"/>
            </a:xfrm>
            <a:prstGeom prst="rect">
              <a:avLst/>
            </a:prstGeom>
          </p:spPr>
        </p:pic>
        <p:sp>
          <p:nvSpPr>
            <p:cNvPr id="17428" name="TextBox 17427"/>
            <p:cNvSpPr txBox="1"/>
            <p:nvPr/>
          </p:nvSpPr>
          <p:spPr>
            <a:xfrm>
              <a:off x="8202168" y="3611880"/>
              <a:ext cx="1426464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C0392B"/>
                  </a:solidFill>
                  <a:latin typeface="Calibri"/>
                </a:rPr>
                <a:t>Conventional</a:t>
              </a:r>
            </a:p>
          </p:txBody>
        </p:sp>
        <p:sp>
          <p:nvSpPr>
            <p:cNvPr id="17429" name="Rounded Rectangle 17428"/>
            <p:cNvSpPr/>
            <p:nvPr/>
          </p:nvSpPr>
          <p:spPr>
            <a:xfrm>
              <a:off x="9756648" y="3611880"/>
              <a:ext cx="2066544" cy="411480"/>
            </a:xfrm>
            <a:prstGeom prst="roundRect">
              <a:avLst>
                <a:gd name="adj" fmla="val 2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30" name="Picture 17429" descr="check_green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76688" y="3712464"/>
              <a:ext cx="210312" cy="210312"/>
            </a:xfrm>
            <a:prstGeom prst="rect">
              <a:avLst/>
            </a:prstGeom>
          </p:spPr>
        </p:pic>
        <p:sp>
          <p:nvSpPr>
            <p:cNvPr id="17431" name="TextBox 17430"/>
            <p:cNvSpPr txBox="1"/>
            <p:nvPr/>
          </p:nvSpPr>
          <p:spPr>
            <a:xfrm>
              <a:off x="10341864" y="3611880"/>
              <a:ext cx="1426464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E8449"/>
                  </a:solidFill>
                  <a:latin typeface="Calibri"/>
                </a:rPr>
                <a:t>Our approach</a:t>
              </a:r>
            </a:p>
          </p:txBody>
        </p:sp>
        <p:sp>
          <p:nvSpPr>
            <p:cNvPr id="17432" name="Rounded Rectangle 17431"/>
            <p:cNvSpPr/>
            <p:nvPr/>
          </p:nvSpPr>
          <p:spPr>
            <a:xfrm>
              <a:off x="6172200" y="4096512"/>
              <a:ext cx="1371600" cy="566928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3" name="TextBox 17432"/>
            <p:cNvSpPr txBox="1"/>
            <p:nvPr/>
          </p:nvSpPr>
          <p:spPr>
            <a:xfrm>
              <a:off x="6281928" y="4096512"/>
              <a:ext cx="11887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50" b="1" i="0">
                  <a:solidFill>
                    <a:srgbClr val="1F3864"/>
                  </a:solidFill>
                  <a:latin typeface="Calibri"/>
                </a:rPr>
                <a:t>Security basis</a:t>
              </a:r>
            </a:p>
          </p:txBody>
        </p:sp>
        <p:sp>
          <p:nvSpPr>
            <p:cNvPr id="17434" name="Rounded Rectangle 17433"/>
            <p:cNvSpPr/>
            <p:nvPr/>
          </p:nvSpPr>
          <p:spPr>
            <a:xfrm>
              <a:off x="7616952" y="409651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3C4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5" name="TextBox 17434"/>
            <p:cNvSpPr txBox="1"/>
            <p:nvPr/>
          </p:nvSpPr>
          <p:spPr>
            <a:xfrm>
              <a:off x="7744968" y="409651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Math hardness that Shor’s algorithm can break</a:t>
              </a:r>
            </a:p>
          </p:txBody>
        </p:sp>
        <p:sp>
          <p:nvSpPr>
            <p:cNvPr id="17436" name="Rounded Rectangle 17435"/>
            <p:cNvSpPr/>
            <p:nvPr/>
          </p:nvSpPr>
          <p:spPr>
            <a:xfrm>
              <a:off x="9756648" y="409651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B9DE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7" name="TextBox 17436"/>
            <p:cNvSpPr txBox="1"/>
            <p:nvPr/>
          </p:nvSpPr>
          <p:spPr>
            <a:xfrm>
              <a:off x="9884664" y="409651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Physical laws (No-Cloning Theorem)</a:t>
              </a:r>
            </a:p>
          </p:txBody>
        </p:sp>
        <p:sp>
          <p:nvSpPr>
            <p:cNvPr id="17438" name="Rounded Rectangle 17437"/>
            <p:cNvSpPr/>
            <p:nvPr/>
          </p:nvSpPr>
          <p:spPr>
            <a:xfrm>
              <a:off x="6172200" y="4736592"/>
              <a:ext cx="1371600" cy="566928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9" name="TextBox 17438"/>
            <p:cNvSpPr txBox="1"/>
            <p:nvPr/>
          </p:nvSpPr>
          <p:spPr>
            <a:xfrm>
              <a:off x="6281928" y="4736592"/>
              <a:ext cx="11887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50" b="1" i="0">
                  <a:solidFill>
                    <a:srgbClr val="1F3864"/>
                  </a:solidFill>
                  <a:latin typeface="Calibri"/>
                </a:rPr>
                <a:t>Decisions</a:t>
              </a:r>
            </a:p>
          </p:txBody>
        </p:sp>
        <p:sp>
          <p:nvSpPr>
            <p:cNvPr id="17440" name="Rounded Rectangle 17439"/>
            <p:cNvSpPr/>
            <p:nvPr/>
          </p:nvSpPr>
          <p:spPr>
            <a:xfrm>
              <a:off x="7616952" y="473659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3C4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1" name="TextBox 17440"/>
            <p:cNvSpPr txBox="1"/>
            <p:nvPr/>
          </p:nvSpPr>
          <p:spPr>
            <a:xfrm>
              <a:off x="7744968" y="473659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Black-box ML, false positives</a:t>
              </a:r>
            </a:p>
          </p:txBody>
        </p:sp>
        <p:sp>
          <p:nvSpPr>
            <p:cNvPr id="17442" name="Rounded Rectangle 17441"/>
            <p:cNvSpPr/>
            <p:nvPr/>
          </p:nvSpPr>
          <p:spPr>
            <a:xfrm>
              <a:off x="9756648" y="473659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B9DE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3" name="TextBox 17442"/>
            <p:cNvSpPr txBox="1"/>
            <p:nvPr/>
          </p:nvSpPr>
          <p:spPr>
            <a:xfrm>
              <a:off x="9884664" y="473659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Deterministic and auditable</a:t>
              </a:r>
            </a:p>
          </p:txBody>
        </p:sp>
        <p:sp>
          <p:nvSpPr>
            <p:cNvPr id="17444" name="Rounded Rectangle 17443"/>
            <p:cNvSpPr/>
            <p:nvPr/>
          </p:nvSpPr>
          <p:spPr>
            <a:xfrm>
              <a:off x="6172200" y="5376672"/>
              <a:ext cx="1371600" cy="566928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5" name="TextBox 17444"/>
            <p:cNvSpPr txBox="1"/>
            <p:nvPr/>
          </p:nvSpPr>
          <p:spPr>
            <a:xfrm>
              <a:off x="6281928" y="5376672"/>
              <a:ext cx="11887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50" b="1" i="0">
                  <a:solidFill>
                    <a:srgbClr val="1F3864"/>
                  </a:solidFill>
                  <a:latin typeface="Calibri"/>
                </a:rPr>
                <a:t>Compute cost</a:t>
              </a:r>
            </a:p>
          </p:txBody>
        </p:sp>
        <p:sp>
          <p:nvSpPr>
            <p:cNvPr id="17446" name="Rounded Rectangle 17445"/>
            <p:cNvSpPr/>
            <p:nvPr/>
          </p:nvSpPr>
          <p:spPr>
            <a:xfrm>
              <a:off x="7616952" y="537667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3C4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7" name="TextBox 17446"/>
            <p:cNvSpPr txBox="1"/>
            <p:nvPr/>
          </p:nvSpPr>
          <p:spPr>
            <a:xfrm>
              <a:off x="7744968" y="537667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GPU-heavy threat models</a:t>
              </a:r>
            </a:p>
          </p:txBody>
        </p:sp>
        <p:sp>
          <p:nvSpPr>
            <p:cNvPr id="17448" name="Rounded Rectangle 17447"/>
            <p:cNvSpPr/>
            <p:nvPr/>
          </p:nvSpPr>
          <p:spPr>
            <a:xfrm>
              <a:off x="9756648" y="537667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B9DE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9" name="TextBox 17448"/>
            <p:cNvSpPr txBox="1"/>
            <p:nvPr/>
          </p:nvSpPr>
          <p:spPr>
            <a:xfrm>
              <a:off x="9884664" y="537667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Zero GPU overhead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1F36BD-D95F-8AD4-0BE9-1D99AC22584C}"/>
              </a:ext>
            </a:extLst>
          </p:cNvPr>
          <p:cNvSpPr txBox="1"/>
          <p:nvPr/>
        </p:nvSpPr>
        <p:spPr>
          <a:xfrm>
            <a:off x="365760" y="1280160"/>
            <a:ext cx="539496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FOUNDATIONAL RESEARCH</a:t>
            </a:r>
          </a:p>
          <a:p>
            <a:pPr lvl="0">
              <a:spcAft>
                <a:spcPts val="300"/>
              </a:spcAft>
            </a:pPr>
            <a:r>
              <a:rPr lang="en-IN" sz="1400" b="1" dirty="0" err="1"/>
              <a:t>Wallden</a:t>
            </a:r>
            <a:r>
              <a:rPr lang="en-IN" sz="1400" b="1" dirty="0"/>
              <a:t> et al. (2015)</a:t>
            </a:r>
            <a:r>
              <a:rPr lang="en-IN" sz="1400" dirty="0"/>
              <a:t>: </a:t>
            </a:r>
            <a:r>
              <a:rPr lang="en-IN" sz="1400" i="1" dirty="0">
                <a:hlinkClick r:id="rId4"/>
              </a:rPr>
              <a:t>Quantum digital signatures with quantum key distribution components</a:t>
            </a:r>
            <a:r>
              <a:rPr lang="en-IN" sz="1400" dirty="0">
                <a:hlinkClick r:id="rId4"/>
              </a:rPr>
              <a:t>, Phys. Rev. A / arXiv:1403.5551</a:t>
            </a:r>
            <a:r>
              <a:rPr lang="en-IN" sz="1400" dirty="0"/>
              <a:t>. </a:t>
            </a:r>
            <a:endParaRPr lang="en-IN" sz="1400" b="1" dirty="0"/>
          </a:p>
          <a:p>
            <a:pPr lvl="0">
              <a:spcAft>
                <a:spcPts val="300"/>
              </a:spcAft>
            </a:pPr>
            <a:r>
              <a:rPr lang="en-IN" sz="1400" b="1" dirty="0"/>
              <a:t>Gottesman &amp; Chuang (2001)</a:t>
            </a:r>
            <a:r>
              <a:rPr lang="en-IN" sz="1400" dirty="0"/>
              <a:t>: </a:t>
            </a:r>
            <a:r>
              <a:rPr lang="en-IN" sz="1400" i="1" dirty="0">
                <a:hlinkClick r:id="rId5"/>
              </a:rPr>
              <a:t>Quantum Digital Signatures</a:t>
            </a:r>
            <a:r>
              <a:rPr lang="en-IN" sz="1400" dirty="0">
                <a:hlinkClick r:id="rId5"/>
              </a:rPr>
              <a:t> (</a:t>
            </a:r>
            <a:r>
              <a:rPr lang="en-IN" sz="1400" dirty="0" err="1">
                <a:hlinkClick r:id="rId5"/>
              </a:rPr>
              <a:t>arXiv:quant-ph</a:t>
            </a:r>
            <a:r>
              <a:rPr lang="en-IN" sz="1400" dirty="0">
                <a:hlinkClick r:id="rId5"/>
              </a:rPr>
              <a:t>/0105032).</a:t>
            </a:r>
            <a:endParaRPr lang="en-IN" sz="1400" dirty="0"/>
          </a:p>
          <a:p>
            <a:pPr lvl="0">
              <a:spcAft>
                <a:spcPts val="300"/>
              </a:spcAft>
            </a:pPr>
            <a:r>
              <a:rPr lang="en-IN" sz="1400" b="1" dirty="0"/>
              <a:t>Wang et al. (2015)</a:t>
            </a:r>
            <a:r>
              <a:rPr lang="en-IN" sz="1400" dirty="0"/>
              <a:t>: </a:t>
            </a:r>
            <a:r>
              <a:rPr lang="en-IN" sz="1400" i="1" dirty="0">
                <a:hlinkClick r:id="rId6"/>
              </a:rPr>
              <a:t>Quantum Digital Signature Scheme based on Multiparty Controlled EPR Channels</a:t>
            </a:r>
            <a:r>
              <a:rPr lang="en-IN" sz="1400" dirty="0">
                <a:hlinkClick r:id="rId6"/>
              </a:rPr>
              <a:t> (arXiv:1507.03581).</a:t>
            </a:r>
            <a:endParaRPr lang="en-IN" sz="1400" dirty="0"/>
          </a:p>
          <a:p>
            <a:pPr lvl="0">
              <a:spcAft>
                <a:spcPts val="300"/>
              </a:spcAft>
            </a:pPr>
            <a:r>
              <a:rPr lang="en-IN" sz="1400" b="1" dirty="0"/>
              <a:t>Amiri et al. (2015)</a:t>
            </a:r>
            <a:r>
              <a:rPr lang="en-IN" sz="1400" dirty="0"/>
              <a:t>: </a:t>
            </a:r>
            <a:r>
              <a:rPr lang="en-IN" sz="1400" i="1" dirty="0">
                <a:hlinkClick r:id="rId7"/>
              </a:rPr>
              <a:t>Practical Quantum Digital Signature without authenticated quantum channels</a:t>
            </a:r>
            <a:r>
              <a:rPr lang="en-IN" sz="1400" dirty="0">
                <a:hlinkClick r:id="rId7"/>
              </a:rPr>
              <a:t> (arXiv:1507.03333)</a:t>
            </a:r>
            <a:endParaRPr lang="en-IN" sz="1400" dirty="0"/>
          </a:p>
        </p:txBody>
      </p:sp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5720"/>
            <a:ext cx="1444752" cy="1444752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6172200" y="1325880"/>
            <a:ext cx="5650992" cy="1938528"/>
            <a:chOff x="6172200" y="1325880"/>
            <a:chExt cx="5650992" cy="1938528"/>
          </a:xfrm>
        </p:grpSpPr>
        <p:sp>
          <p:nvSpPr>
            <p:cNvPr id="17411" name="TextBox 17410"/>
            <p:cNvSpPr txBox="1"/>
            <p:nvPr/>
          </p:nvSpPr>
          <p:spPr>
            <a:xfrm>
              <a:off x="6172200" y="1325880"/>
              <a:ext cx="565099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Calibri"/>
                </a:rPr>
                <a:t>CORE PRINCIPLES WE BUILD ON</a:t>
              </a:r>
            </a:p>
          </p:txBody>
        </p:sp>
        <p:sp>
          <p:nvSpPr>
            <p:cNvPr id="17412" name="Rounded Rectangle 17411"/>
            <p:cNvSpPr/>
            <p:nvPr/>
          </p:nvSpPr>
          <p:spPr>
            <a:xfrm>
              <a:off x="6172200" y="1691640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3" name="Oval 17412"/>
            <p:cNvSpPr/>
            <p:nvPr/>
          </p:nvSpPr>
          <p:spPr>
            <a:xfrm>
              <a:off x="6300216" y="1837944"/>
              <a:ext cx="420624" cy="420624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4" name="Picture 17413" descr="clone_w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96960" y="1934688"/>
              <a:ext cx="227137" cy="227137"/>
            </a:xfrm>
            <a:prstGeom prst="rect">
              <a:avLst/>
            </a:prstGeom>
          </p:spPr>
        </p:pic>
        <p:sp>
          <p:nvSpPr>
            <p:cNvPr id="17415" name="TextBox 17414"/>
            <p:cNvSpPr txBox="1"/>
            <p:nvPr/>
          </p:nvSpPr>
          <p:spPr>
            <a:xfrm>
              <a:off x="6858000" y="1783080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 dirty="0">
                  <a:solidFill>
                    <a:srgbClr val="1F3864"/>
                  </a:solidFill>
                  <a:latin typeface="Calibri"/>
                </a:rPr>
                <a:t>No-Cloning Theorem</a:t>
              </a:r>
            </a:p>
            <a:p>
              <a:pPr algn="l"/>
              <a:r>
                <a:rPr sz="1050" b="0" i="0" dirty="0">
                  <a:solidFill>
                    <a:srgbClr val="5B6472"/>
                  </a:solidFill>
                  <a:latin typeface="Calibri"/>
                </a:rPr>
                <a:t>unknown states cannot be copied</a:t>
              </a:r>
            </a:p>
          </p:txBody>
        </p:sp>
        <p:sp>
          <p:nvSpPr>
            <p:cNvPr id="17416" name="Rounded Rectangle 17415"/>
            <p:cNvSpPr/>
            <p:nvPr/>
          </p:nvSpPr>
          <p:spPr>
            <a:xfrm>
              <a:off x="9079992" y="1691640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7" name="Oval 17416"/>
            <p:cNvSpPr/>
            <p:nvPr/>
          </p:nvSpPr>
          <p:spPr>
            <a:xfrm>
              <a:off x="9208008" y="1837944"/>
              <a:ext cx="420624" cy="42062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8" name="Picture 17417" descr="wave_w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04752" y="1934688"/>
              <a:ext cx="227137" cy="227137"/>
            </a:xfrm>
            <a:prstGeom prst="rect">
              <a:avLst/>
            </a:prstGeom>
          </p:spPr>
        </p:pic>
        <p:sp>
          <p:nvSpPr>
            <p:cNvPr id="17419" name="TextBox 17418"/>
            <p:cNvSpPr txBox="1"/>
            <p:nvPr/>
          </p:nvSpPr>
          <p:spPr>
            <a:xfrm>
              <a:off x="9765792" y="1783080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3864"/>
                  </a:solidFill>
                  <a:latin typeface="Calibri"/>
                </a:rPr>
                <a:t>Uncertainty Principle</a:t>
              </a:r>
            </a:p>
            <a:p>
              <a:pPr algn="l"/>
              <a:r>
                <a:rPr sz="1050" b="0" i="0">
                  <a:solidFill>
                    <a:srgbClr val="5B6472"/>
                  </a:solidFill>
                  <a:latin typeface="Calibri"/>
                </a:rPr>
                <a:t>eavesdropping leaves a trace</a:t>
              </a:r>
            </a:p>
          </p:txBody>
        </p:sp>
        <p:sp>
          <p:nvSpPr>
            <p:cNvPr id="17420" name="Rounded Rectangle 17419"/>
            <p:cNvSpPr/>
            <p:nvPr/>
          </p:nvSpPr>
          <p:spPr>
            <a:xfrm>
              <a:off x="6172200" y="2551176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1" name="Oval 17420"/>
            <p:cNvSpPr/>
            <p:nvPr/>
          </p:nvSpPr>
          <p:spPr>
            <a:xfrm>
              <a:off x="6300216" y="2697480"/>
              <a:ext cx="420624" cy="42062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2" name="Picture 17421" descr="exch_w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96960" y="2794224"/>
              <a:ext cx="227137" cy="227137"/>
            </a:xfrm>
            <a:prstGeom prst="rect">
              <a:avLst/>
            </a:prstGeom>
          </p:spPr>
        </p:pic>
        <p:sp>
          <p:nvSpPr>
            <p:cNvPr id="17423" name="TextBox 17422"/>
            <p:cNvSpPr txBox="1"/>
            <p:nvPr/>
          </p:nvSpPr>
          <p:spPr>
            <a:xfrm>
              <a:off x="6858000" y="2642616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 dirty="0">
                  <a:solidFill>
                    <a:srgbClr val="1F3864"/>
                  </a:solidFill>
                  <a:latin typeface="Calibri"/>
                </a:rPr>
                <a:t>Quantum Teleportation</a:t>
              </a:r>
            </a:p>
            <a:p>
              <a:pPr algn="l"/>
              <a:r>
                <a:rPr sz="1050" b="0" i="0" dirty="0">
                  <a:solidFill>
                    <a:srgbClr val="5B6472"/>
                  </a:solidFill>
                  <a:latin typeface="Calibri"/>
                </a:rPr>
                <a:t>Bell pairs + Pauli feed-forward</a:t>
              </a:r>
            </a:p>
          </p:txBody>
        </p:sp>
        <p:sp>
          <p:nvSpPr>
            <p:cNvPr id="17424" name="Rounded Rectangle 17423"/>
            <p:cNvSpPr/>
            <p:nvPr/>
          </p:nvSpPr>
          <p:spPr>
            <a:xfrm>
              <a:off x="9079992" y="2551176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5" name="Oval 17424"/>
            <p:cNvSpPr/>
            <p:nvPr/>
          </p:nvSpPr>
          <p:spPr>
            <a:xfrm>
              <a:off x="9208008" y="2697480"/>
              <a:ext cx="420624" cy="420624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6" name="Picture 17425" descr="chart_w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04752" y="2794224"/>
              <a:ext cx="227137" cy="227137"/>
            </a:xfrm>
            <a:prstGeom prst="rect">
              <a:avLst/>
            </a:prstGeom>
          </p:spPr>
        </p:pic>
        <p:sp>
          <p:nvSpPr>
            <p:cNvPr id="17427" name="TextBox 17426"/>
            <p:cNvSpPr txBox="1"/>
            <p:nvPr/>
          </p:nvSpPr>
          <p:spPr>
            <a:xfrm>
              <a:off x="9765792" y="2642616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 dirty="0">
                  <a:solidFill>
                    <a:srgbClr val="1F3864"/>
                  </a:solidFill>
                  <a:latin typeface="Calibri"/>
                </a:rPr>
                <a:t>Chernoff-</a:t>
              </a:r>
              <a:r>
                <a:rPr sz="1250" b="1" i="0" dirty="0" err="1">
                  <a:solidFill>
                    <a:srgbClr val="1F3864"/>
                  </a:solidFill>
                  <a:latin typeface="Calibri"/>
                </a:rPr>
                <a:t>Hoeffding</a:t>
              </a:r>
              <a:endParaRPr sz="1250" b="1" i="0" dirty="0">
                <a:solidFill>
                  <a:srgbClr val="1F3864"/>
                </a:solidFill>
                <a:latin typeface="Calibri"/>
              </a:endParaRPr>
            </a:p>
            <a:p>
              <a:pPr algn="l"/>
              <a:r>
                <a:rPr sz="1050" b="0" i="0" dirty="0">
                  <a:solidFill>
                    <a:srgbClr val="5B6472"/>
                  </a:solidFill>
                  <a:latin typeface="Calibri"/>
                </a:rPr>
                <a:t>finite-sample error bounds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91C601D-0D43-6D6B-0450-1699D3097B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223" y="3727417"/>
            <a:ext cx="11555553" cy="23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7745</TotalTime>
  <Words>891</Words>
  <Application>Microsoft Office PowerPoint</Application>
  <PresentationFormat>Widescreen</PresentationFormat>
  <Paragraphs>116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Arial</vt:lpstr>
      <vt:lpstr>Calibri</vt:lpstr>
      <vt:lpstr>Cambria</vt:lpstr>
      <vt:lpstr>Cambria Math</vt:lpstr>
      <vt:lpstr>Garamond</vt:lpstr>
      <vt:lpstr>Segoe UI</vt:lpstr>
      <vt:lpstr>Times New Roman</vt:lpstr>
      <vt:lpstr>TradeGothic</vt:lpstr>
      <vt:lpstr>Office Theme</vt:lpstr>
      <vt:lpstr>SMART INDIA HACKATHON 2026</vt:lpstr>
      <vt:lpstr> HEDWIG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Jashan Preet ‪Singh</cp:lastModifiedBy>
  <cp:revision>163</cp:revision>
  <dcterms:created xsi:type="dcterms:W3CDTF">2013-12-12T18:46:50Z</dcterms:created>
  <dcterms:modified xsi:type="dcterms:W3CDTF">2026-09-10T19:30:09Z</dcterms:modified>
  <cp:category/>
</cp:coreProperties>
</file>