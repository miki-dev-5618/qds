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494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0.png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hyperlink" Target="https://arxiv.org/html/1507.03333v3" TargetMode="External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1507.03581" TargetMode="External"/><Relationship Id="rId11" Type="http://schemas.openxmlformats.org/officeDocument/2006/relationships/image" Target="../media/image19.png"/><Relationship Id="rId5" Type="http://schemas.openxmlformats.org/officeDocument/2006/relationships/hyperlink" Target="https://arxiv.org/html/quant-ph/0105032v2" TargetMode="External"/><Relationship Id="rId10" Type="http://schemas.openxmlformats.org/officeDocument/2006/relationships/image" Target="../media/image18.png"/><Relationship Id="rId4" Type="http://schemas.openxmlformats.org/officeDocument/2006/relationships/hyperlink" Target="https://arxiv.org/html/1403.5551v2" TargetMode="External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931663" y="180732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9329" y="851512"/>
            <a:ext cx="6362122" cy="48710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Problem Statement ID –  26141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Problem Statement Title- Quantum-Inspired Cyber Threat Detection for Digital Signature Security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Theme- Blockchain &amp; Cybersecurity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PS Category- Software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Team ID-  159801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Team Name- TEAM ATHENA</a:t>
            </a:r>
            <a:endParaRPr lang="en-IN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822192" y="42140"/>
            <a:ext cx="3310246" cy="414613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HEDWIG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21155F-08EE-69F2-945F-87070DD046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65" y="117927"/>
            <a:ext cx="770624" cy="770624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FB51ADEA-9DD5-1E46-BD08-1289A079AD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68" t="4640" r="2585"/>
          <a:stretch>
            <a:fillRect/>
          </a:stretch>
        </p:blipFill>
        <p:spPr>
          <a:xfrm>
            <a:off x="6095999" y="1141924"/>
            <a:ext cx="5780447" cy="463366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3A6C2A0-5F0B-F172-665E-66A1C758E74E}"/>
              </a:ext>
            </a:extLst>
          </p:cNvPr>
          <p:cNvSpPr txBox="1"/>
          <p:nvPr/>
        </p:nvSpPr>
        <p:spPr>
          <a:xfrm>
            <a:off x="353599" y="803098"/>
            <a:ext cx="6038057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chemeClr val="tx2"/>
                </a:solidFill>
              </a:rPr>
              <a:t>PROPOSED SOLUTION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Teleportation-Based QDS: Bell-state teleportation + Pauli corrections for secure signature transmission.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Quantum Threat Detection: Pauli measurements, state elimination, QBER and statistical thresholds detect attacks.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Message &amp; Session Binding: Hash commitments protect against tampering, replay and impersonation.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Two-Tier Detection: Distinguishes channel attacks, signer manipulation and uncertain disturbances.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Quantum Circuit Breaker: WATCH, QUARANTINE, early abort and adaptive testing respond to threats.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Verifiable Audit Trail: Hash-chained records with optional Ed25519 + ML-DSA-65 hybrid signing.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Early Attack Detection: Sequential testing can stop transmission before the full signature stream is sent.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Quantum Circuit Breaker: Suspicious links move through OPEN, WATCH, QUARANTINED and PROBATION states.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Adaptive Security: WATCH and probation states allocate more test tokens for stronger checking.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Persistent Audit Trail: Transactions, incidents and resets are stored and survive restarts.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37DD51AF-A08E-7632-D608-839467502E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120" t="7731"/>
          <a:stretch>
            <a:fillRect/>
          </a:stretch>
        </p:blipFill>
        <p:spPr>
          <a:xfrm>
            <a:off x="271792" y="1063837"/>
            <a:ext cx="7860987" cy="44444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C69DE8-43F7-CFD2-C205-75C485B402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065" y="117927"/>
            <a:ext cx="770624" cy="7706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DB2B8B2-DF55-A5C6-F53D-E12C1B36AA3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194" r="5044" b="46069"/>
          <a:stretch>
            <a:fillRect/>
          </a:stretch>
        </p:blipFill>
        <p:spPr>
          <a:xfrm>
            <a:off x="8132779" y="1596273"/>
            <a:ext cx="3643375" cy="174492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A5E798F-77A2-FF47-7769-80B9EA7FA65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194" t="53931" r="5044"/>
          <a:stretch>
            <a:fillRect/>
          </a:stretch>
        </p:blipFill>
        <p:spPr>
          <a:xfrm>
            <a:off x="8132779" y="3810558"/>
            <a:ext cx="3643375" cy="14905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79C873-C97F-178C-8EDC-0DC828603D98}"/>
              </a:ext>
            </a:extLst>
          </p:cNvPr>
          <p:cNvSpPr txBox="1"/>
          <p:nvPr/>
        </p:nvSpPr>
        <p:spPr>
          <a:xfrm>
            <a:off x="365760" y="1280160"/>
            <a:ext cx="5394960" cy="1737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IN" sz="1400" b="1" dirty="0"/>
              <a:t>FEASIBILITY</a:t>
            </a:r>
          </a:p>
          <a:p>
            <a:pPr lvl="0">
              <a:spcAft>
                <a:spcPts val="300"/>
              </a:spcAft>
            </a:pPr>
            <a:r>
              <a:rPr lang="en-US" sz="1400" b="1" dirty="0"/>
              <a:t>Hardware Independent Deployment</a:t>
            </a:r>
            <a:r>
              <a:rPr lang="en-US" sz="1400" dirty="0"/>
              <a:t>: Capable of executing completely within conventional computer systems through the </a:t>
            </a:r>
            <a:r>
              <a:rPr lang="en-US" sz="1400" dirty="0" err="1"/>
              <a:t>Qiskit</a:t>
            </a:r>
            <a:r>
              <a:rPr lang="en-US" sz="1400" dirty="0"/>
              <a:t> Aer simulator, not requiring any superconducting hardware. </a:t>
            </a:r>
          </a:p>
          <a:p>
            <a:pPr lvl="0">
              <a:spcAft>
                <a:spcPts val="300"/>
              </a:spcAft>
            </a:pPr>
            <a:r>
              <a:rPr lang="en-US" sz="1400" b="1" dirty="0"/>
              <a:t>Extremely Efficient Computational Performance</a:t>
            </a:r>
            <a:r>
              <a:rPr lang="en-US" sz="1400" dirty="0"/>
              <a:t>: Instant validation possible with O(1) table lookups and deterministic rules.</a:t>
            </a:r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E7FB0F-28EE-8706-640C-39C6035E940F}"/>
              </a:ext>
            </a:extLst>
          </p:cNvPr>
          <p:cNvSpPr txBox="1"/>
          <p:nvPr/>
        </p:nvSpPr>
        <p:spPr>
          <a:xfrm>
            <a:off x="6172200" y="1280160"/>
            <a:ext cx="5650992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IN" sz="1400" b="1" dirty="0"/>
              <a:t>LIKELY CHALLENGES</a:t>
            </a:r>
          </a:p>
          <a:p>
            <a:pPr lvl="0">
              <a:spcAft>
                <a:spcPts val="300"/>
              </a:spcAft>
            </a:pPr>
            <a:r>
              <a:rPr lang="en-US" sz="1400" b="1" dirty="0"/>
              <a:t>Decoherence on Channels</a:t>
            </a:r>
            <a:r>
              <a:rPr lang="en-US" sz="1400" dirty="0"/>
              <a:t>: Noise from the environment (bit/phase flips) can simulate the effects of an eavesdropper. </a:t>
            </a:r>
          </a:p>
          <a:p>
            <a:pPr lvl="0">
              <a:spcAft>
                <a:spcPts val="300"/>
              </a:spcAft>
            </a:pPr>
            <a:r>
              <a:rPr lang="en-US" sz="1400" b="1" dirty="0"/>
              <a:t>Memory Lifetime</a:t>
            </a:r>
            <a:r>
              <a:rPr lang="en-US" sz="1400" dirty="0"/>
              <a:t>: Long-term quantum memory storage is unfeasible on classical technology and machinery.</a:t>
            </a:r>
            <a:endParaRPr lang="en-IN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A613E43-3D42-CE24-18F9-DABAC7136515}"/>
                  </a:ext>
                </a:extLst>
              </p:cNvPr>
              <p:cNvSpPr txBox="1"/>
              <p:nvPr/>
            </p:nvSpPr>
            <p:spPr>
              <a:xfrm>
                <a:off x="6172200" y="2743200"/>
                <a:ext cx="5650992" cy="14630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300"/>
                  </a:spcAft>
                </a:pPr>
                <a:r>
                  <a:rPr lang="en-IN" sz="1400" b="1" dirty="0"/>
                  <a:t>PROBABLE SOLUTIONS</a:t>
                </a:r>
              </a:p>
              <a:p>
                <a:pPr lvl="0">
                  <a:spcAft>
                    <a:spcPts val="300"/>
                  </a:spcAft>
                </a:pPr>
                <a:r>
                  <a:rPr lang="en-US" sz="1400" b="1" dirty="0"/>
                  <a:t>Threshold Bound Values</a:t>
                </a:r>
                <a:r>
                  <a:rPr lang="en-US" sz="1400" dirty="0"/>
                  <a:t>: Mathematical bounds that define tolerances for legitimate noise and attacks </a:t>
                </a:r>
                <a:r>
                  <a:rPr lang="en-IN" sz="14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1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140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140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I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14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IN" sz="1400" dirty="0"/>
                  <a:t>)</a:t>
                </a:r>
                <a:endParaRPr lang="en-US" sz="1400" dirty="0"/>
              </a:p>
              <a:p>
                <a:pPr lvl="0">
                  <a:spcAft>
                    <a:spcPts val="300"/>
                  </a:spcAft>
                </a:pPr>
                <a:r>
                  <a:rPr lang="en-US" sz="1400" b="1" dirty="0"/>
                  <a:t>Immediate Projective Measurement</a:t>
                </a:r>
                <a:r>
                  <a:rPr lang="en-US" sz="1400" dirty="0"/>
                  <a:t>: Tokens are measured as soon as they are received, hence no quantum memory is required.</a:t>
                </a:r>
                <a:endParaRPr lang="en-IN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A613E43-3D42-CE24-18F9-DABAC7136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2743200"/>
                <a:ext cx="5650992" cy="1463040"/>
              </a:xfrm>
              <a:prstGeom prst="rect">
                <a:avLst/>
              </a:prstGeom>
              <a:blipFill>
                <a:blip r:embed="rId4"/>
                <a:stretch>
                  <a:fillRect l="-885" t="-1802" b="-3904"/>
                </a:stretch>
              </a:blipFill>
            </p:spPr>
            <p:txBody>
              <a:bodyPr/>
              <a:lstStyle/>
              <a:p>
                <a:pPr>
                  <a:spcAft>
                    <a:spcPts val="300"/>
                  </a:spcAft>
                </a:pPr>
                <a:r>
                  <a:rPr lang="en-IN" sz="1400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/>
          <p:cNvGrpSpPr/>
          <p:nvPr/>
        </p:nvGrpSpPr>
        <p:grpSpPr>
          <a:xfrm>
            <a:off x="365760" y="3090672"/>
            <a:ext cx="5394960" cy="2834640"/>
            <a:chOff x="365760" y="3090672"/>
            <a:chExt cx="5394960" cy="2834640"/>
          </a:xfrm>
        </p:grpSpPr>
        <p:sp>
          <p:nvSpPr>
            <p:cNvPr id="17410" name="TextBox 17409"/>
            <p:cNvSpPr txBox="1"/>
            <p:nvPr/>
          </p:nvSpPr>
          <p:spPr>
            <a:xfrm>
              <a:off x="365760" y="3090672"/>
              <a:ext cx="539496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/>
              <a:r>
                <a:rPr sz="1200" b="1" i="0">
                  <a:solidFill>
                    <a:srgbClr val="1F3864"/>
                  </a:solidFill>
                  <a:latin typeface="Calibri"/>
                </a:rPr>
                <a:t>RUNS ON STANDARD HARDWARE</a:t>
              </a:r>
            </a:p>
          </p:txBody>
        </p:sp>
        <p:sp>
          <p:nvSpPr>
            <p:cNvPr id="17411" name="Rounded Rectangle 17410"/>
            <p:cNvSpPr/>
            <p:nvPr/>
          </p:nvSpPr>
          <p:spPr>
            <a:xfrm>
              <a:off x="365760" y="3456432"/>
              <a:ext cx="5394960" cy="548640"/>
            </a:xfrm>
            <a:prstGeom prst="roundRect">
              <a:avLst>
                <a:gd name="adj" fmla="val 15000"/>
              </a:avLst>
            </a:prstGeom>
            <a:solidFill>
              <a:srgbClr val="EAF3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12" name="Oval 17411"/>
            <p:cNvSpPr/>
            <p:nvPr/>
          </p:nvSpPr>
          <p:spPr>
            <a:xfrm>
              <a:off x="502920" y="3538728"/>
              <a:ext cx="384048" cy="384048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7413" name="Picture 17412" descr="desktop_w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9788" y="3625596"/>
              <a:ext cx="210312" cy="210312"/>
            </a:xfrm>
            <a:prstGeom prst="rect">
              <a:avLst/>
            </a:prstGeom>
          </p:spPr>
        </p:pic>
        <p:sp>
          <p:nvSpPr>
            <p:cNvPr id="17414" name="TextBox 17413"/>
            <p:cNvSpPr txBox="1"/>
            <p:nvPr/>
          </p:nvSpPr>
          <p:spPr>
            <a:xfrm>
              <a:off x="1051560" y="3502152"/>
              <a:ext cx="4572000" cy="4572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50" b="1" i="0">
                  <a:solidFill>
                    <a:srgbClr val="1F2937"/>
                  </a:solidFill>
                  <a:latin typeface="Calibri"/>
                </a:rPr>
                <a:t>React.js dashboard</a:t>
              </a:r>
              <a:r>
                <a:rPr sz="1100" b="0" i="0">
                  <a:solidFill>
                    <a:srgbClr val="5B6472"/>
                  </a:solidFill>
                  <a:latin typeface="Calibri"/>
                </a:rPr>
                <a:t>   live attack telemetry</a:t>
              </a:r>
            </a:p>
          </p:txBody>
        </p:sp>
        <p:sp>
          <p:nvSpPr>
            <p:cNvPr id="17415" name="Rounded Rectangle 17414"/>
            <p:cNvSpPr/>
            <p:nvPr/>
          </p:nvSpPr>
          <p:spPr>
            <a:xfrm>
              <a:off x="365760" y="4096512"/>
              <a:ext cx="5394960" cy="548640"/>
            </a:xfrm>
            <a:prstGeom prst="roundRect">
              <a:avLst>
                <a:gd name="adj" fmla="val 15000"/>
              </a:avLst>
            </a:prstGeom>
            <a:solidFill>
              <a:srgbClr val="EAF3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16" name="Oval 17415"/>
            <p:cNvSpPr/>
            <p:nvPr/>
          </p:nvSpPr>
          <p:spPr>
            <a:xfrm>
              <a:off x="502920" y="4178808"/>
              <a:ext cx="384048" cy="384048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7417" name="Picture 17416" descr="cogs_w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9788" y="4265676"/>
              <a:ext cx="210312" cy="210312"/>
            </a:xfrm>
            <a:prstGeom prst="rect">
              <a:avLst/>
            </a:prstGeom>
          </p:spPr>
        </p:pic>
        <p:sp>
          <p:nvSpPr>
            <p:cNvPr id="17418" name="TextBox 17417"/>
            <p:cNvSpPr txBox="1"/>
            <p:nvPr/>
          </p:nvSpPr>
          <p:spPr>
            <a:xfrm>
              <a:off x="1051560" y="4142232"/>
              <a:ext cx="4572000" cy="4572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50" b="1" i="0">
                  <a:solidFill>
                    <a:srgbClr val="1F2937"/>
                  </a:solidFill>
                  <a:latin typeface="Calibri"/>
                </a:rPr>
                <a:t>Deterministic threat engine</a:t>
              </a:r>
              <a:r>
                <a:rPr sz="1100" b="0" i="0">
                  <a:solidFill>
                    <a:srgbClr val="5B6472"/>
                  </a:solidFill>
                  <a:latin typeface="Calibri"/>
                </a:rPr>
                <a:t>   O(1) table lookups, rule-based</a:t>
              </a:r>
            </a:p>
          </p:txBody>
        </p:sp>
        <p:sp>
          <p:nvSpPr>
            <p:cNvPr id="17419" name="Rounded Rectangle 17418"/>
            <p:cNvSpPr/>
            <p:nvPr/>
          </p:nvSpPr>
          <p:spPr>
            <a:xfrm>
              <a:off x="365760" y="4736592"/>
              <a:ext cx="5394960" cy="548640"/>
            </a:xfrm>
            <a:prstGeom prst="roundRect">
              <a:avLst>
                <a:gd name="adj" fmla="val 15000"/>
              </a:avLst>
            </a:prstGeom>
            <a:solidFill>
              <a:srgbClr val="EAF3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20" name="Oval 17419"/>
            <p:cNvSpPr/>
            <p:nvPr/>
          </p:nvSpPr>
          <p:spPr>
            <a:xfrm>
              <a:off x="502920" y="4818888"/>
              <a:ext cx="384048" cy="384048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7421" name="Picture 17420" descr="atom_w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9788" y="4905756"/>
              <a:ext cx="210312" cy="210312"/>
            </a:xfrm>
            <a:prstGeom prst="rect">
              <a:avLst/>
            </a:prstGeom>
          </p:spPr>
        </p:pic>
        <p:sp>
          <p:nvSpPr>
            <p:cNvPr id="17422" name="TextBox 17421"/>
            <p:cNvSpPr txBox="1"/>
            <p:nvPr/>
          </p:nvSpPr>
          <p:spPr>
            <a:xfrm>
              <a:off x="1051560" y="4782312"/>
              <a:ext cx="4572000" cy="4572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50" b="1" i="0">
                  <a:solidFill>
                    <a:srgbClr val="1F2937"/>
                  </a:solidFill>
                  <a:latin typeface="Calibri"/>
                </a:rPr>
                <a:t>Qiskit Aer simulator</a:t>
              </a:r>
              <a:r>
                <a:rPr sz="1100" b="0" i="0">
                  <a:solidFill>
                    <a:srgbClr val="5B6472"/>
                  </a:solidFill>
                  <a:latin typeface="Calibri"/>
                </a:rPr>
                <a:t>   quantum circuits and noise models</a:t>
              </a:r>
            </a:p>
          </p:txBody>
        </p:sp>
        <p:sp>
          <p:nvSpPr>
            <p:cNvPr id="17423" name="Rounded Rectangle 17422"/>
            <p:cNvSpPr/>
            <p:nvPr/>
          </p:nvSpPr>
          <p:spPr>
            <a:xfrm>
              <a:off x="365760" y="5376672"/>
              <a:ext cx="5394960" cy="548640"/>
            </a:xfrm>
            <a:prstGeom prst="roundRect">
              <a:avLst>
                <a:gd name="adj" fmla="val 15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24" name="Oval 17423"/>
            <p:cNvSpPr/>
            <p:nvPr/>
          </p:nvSpPr>
          <p:spPr>
            <a:xfrm>
              <a:off x="502920" y="5458968"/>
              <a:ext cx="384048" cy="38404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7425" name="Picture 17424" descr="server_navy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89788" y="5545836"/>
              <a:ext cx="210312" cy="210312"/>
            </a:xfrm>
            <a:prstGeom prst="rect">
              <a:avLst/>
            </a:prstGeom>
          </p:spPr>
        </p:pic>
        <p:sp>
          <p:nvSpPr>
            <p:cNvPr id="17426" name="TextBox 17425"/>
            <p:cNvSpPr txBox="1"/>
            <p:nvPr/>
          </p:nvSpPr>
          <p:spPr>
            <a:xfrm>
              <a:off x="1051560" y="5422392"/>
              <a:ext cx="4572000" cy="4572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50" b="1" i="0">
                  <a:solidFill>
                    <a:srgbClr val="FFFFFF"/>
                  </a:solidFill>
                  <a:latin typeface="Calibri"/>
                </a:rPr>
                <a:t>Conventional computer</a:t>
              </a:r>
              <a:r>
                <a:rPr sz="1100" b="0" i="0">
                  <a:solidFill>
                    <a:srgbClr val="D6E0F0"/>
                  </a:solidFill>
                  <a:latin typeface="Calibri"/>
                </a:rPr>
                <a:t>   no superconducting hardware needed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172200" y="4370832"/>
            <a:ext cx="5650992" cy="1600200"/>
            <a:chOff x="6172200" y="4370832"/>
            <a:chExt cx="5650992" cy="1600200"/>
          </a:xfrm>
        </p:grpSpPr>
        <p:sp>
          <p:nvSpPr>
            <p:cNvPr id="17427" name="TextBox 17426"/>
            <p:cNvSpPr txBox="1"/>
            <p:nvPr/>
          </p:nvSpPr>
          <p:spPr>
            <a:xfrm>
              <a:off x="6172200" y="4370832"/>
              <a:ext cx="5650992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/>
              <a:r>
                <a:rPr sz="1200" b="1" i="0">
                  <a:solidFill>
                    <a:srgbClr val="1F3864"/>
                  </a:solidFill>
                  <a:latin typeface="Calibri"/>
                </a:rPr>
                <a:t>NOISE vs. ATTACK THRESHOLDS</a:t>
              </a:r>
            </a:p>
          </p:txBody>
        </p:sp>
        <p:sp>
          <p:nvSpPr>
            <p:cNvPr id="17428" name="Rectangle 17427"/>
            <p:cNvSpPr/>
            <p:nvPr/>
          </p:nvSpPr>
          <p:spPr>
            <a:xfrm>
              <a:off x="6355080" y="5074920"/>
              <a:ext cx="2748321" cy="310896"/>
            </a:xfrm>
            <a:prstGeom prst="rect">
              <a:avLst/>
            </a:prstGeom>
            <a:solidFill>
              <a:srgbClr val="3FA9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29" name="TextBox 17428"/>
            <p:cNvSpPr txBox="1"/>
            <p:nvPr/>
          </p:nvSpPr>
          <p:spPr>
            <a:xfrm>
              <a:off x="6355080" y="5458968"/>
              <a:ext cx="2748321" cy="2377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/>
              <a:r>
                <a:rPr sz="1050" b="1" i="0">
                  <a:solidFill>
                    <a:srgbClr val="1E8449"/>
                  </a:solidFill>
                  <a:latin typeface="Calibri"/>
                </a:rPr>
                <a:t>Legitimate noise</a:t>
              </a:r>
            </a:p>
          </p:txBody>
        </p:sp>
        <p:sp>
          <p:nvSpPr>
            <p:cNvPr id="17430" name="Rectangle 17429"/>
            <p:cNvSpPr/>
            <p:nvPr/>
          </p:nvSpPr>
          <p:spPr>
            <a:xfrm>
              <a:off x="9103401" y="5074920"/>
              <a:ext cx="1162751" cy="310896"/>
            </a:xfrm>
            <a:prstGeom prst="rect">
              <a:avLst/>
            </a:prstGeom>
            <a:solidFill>
              <a:srgbClr val="F0B42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31" name="TextBox 17430"/>
            <p:cNvSpPr txBox="1"/>
            <p:nvPr/>
          </p:nvSpPr>
          <p:spPr>
            <a:xfrm>
              <a:off x="9103401" y="5458968"/>
              <a:ext cx="1162751" cy="2377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/>
              <a:r>
                <a:rPr sz="1050" b="1" i="0">
                  <a:solidFill>
                    <a:srgbClr val="D68910"/>
                  </a:solidFill>
                  <a:latin typeface="Calibri"/>
                </a:rPr>
                <a:t>Safety margin</a:t>
              </a:r>
            </a:p>
          </p:txBody>
        </p:sp>
        <p:sp>
          <p:nvSpPr>
            <p:cNvPr id="17432" name="Rectangle 17431"/>
            <p:cNvSpPr/>
            <p:nvPr/>
          </p:nvSpPr>
          <p:spPr>
            <a:xfrm>
              <a:off x="10266152" y="5074920"/>
              <a:ext cx="1374160" cy="310896"/>
            </a:xfrm>
            <a:prstGeom prst="rect">
              <a:avLst/>
            </a:prstGeom>
            <a:solidFill>
              <a:srgbClr val="D9534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33" name="TextBox 17432"/>
            <p:cNvSpPr txBox="1"/>
            <p:nvPr/>
          </p:nvSpPr>
          <p:spPr>
            <a:xfrm>
              <a:off x="10266152" y="5458968"/>
              <a:ext cx="1374160" cy="2377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/>
              <a:r>
                <a:rPr sz="1050" b="1" i="0">
                  <a:solidFill>
                    <a:srgbClr val="C0392B"/>
                  </a:solidFill>
                  <a:latin typeface="Calibri"/>
                </a:rPr>
                <a:t>Attack flagged</a:t>
              </a:r>
            </a:p>
          </p:txBody>
        </p:sp>
        <p:cxnSp>
          <p:nvCxnSpPr>
            <p:cNvPr id="17434" name="Connector 17433"/>
            <p:cNvCxnSpPr/>
            <p:nvPr/>
          </p:nvCxnSpPr>
          <p:spPr>
            <a:xfrm>
              <a:off x="7834945" y="4965192"/>
              <a:ext cx="0" cy="420624"/>
            </a:xfrm>
            <a:prstGeom prst="line">
              <a:avLst/>
            </a:prstGeom>
            <a:ln w="19050">
              <a:solidFill>
                <a:srgbClr val="1F293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435" name="TextBox 17434"/>
            <p:cNvSpPr txBox="1"/>
            <p:nvPr/>
          </p:nvSpPr>
          <p:spPr>
            <a:xfrm>
              <a:off x="7514905" y="4654296"/>
              <a:ext cx="640080" cy="2926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/>
              <a:r>
                <a:rPr sz="1500" b="0" i="1">
                  <a:solidFill>
                    <a:srgbClr val="1F2937"/>
                  </a:solidFill>
                  <a:latin typeface="Cambria"/>
                </a:rPr>
                <a:t>e</a:t>
              </a:r>
              <a:r>
                <a:rPr sz="1500" b="0" i="1" baseline="-25000">
                  <a:solidFill>
                    <a:srgbClr val="1F2937"/>
                  </a:solidFill>
                  <a:latin typeface="Cambria"/>
                </a:rPr>
                <a:t>0</a:t>
              </a:r>
            </a:p>
          </p:txBody>
        </p:sp>
        <p:cxnSp>
          <p:nvCxnSpPr>
            <p:cNvPr id="17436" name="Connector 17435"/>
            <p:cNvCxnSpPr/>
            <p:nvPr/>
          </p:nvCxnSpPr>
          <p:spPr>
            <a:xfrm>
              <a:off x="9103401" y="4965192"/>
              <a:ext cx="0" cy="420624"/>
            </a:xfrm>
            <a:prstGeom prst="line">
              <a:avLst/>
            </a:prstGeom>
            <a:ln w="19050">
              <a:solidFill>
                <a:srgbClr val="1F293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437" name="TextBox 17436"/>
            <p:cNvSpPr txBox="1"/>
            <p:nvPr/>
          </p:nvSpPr>
          <p:spPr>
            <a:xfrm>
              <a:off x="8783361" y="4654296"/>
              <a:ext cx="640080" cy="2926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/>
              <a:r>
                <a:rPr sz="1500" b="0" i="1">
                  <a:solidFill>
                    <a:srgbClr val="1F2937"/>
                  </a:solidFill>
                  <a:latin typeface="Cambria"/>
                </a:rPr>
                <a:t>s</a:t>
              </a:r>
              <a:r>
                <a:rPr sz="1500" b="0" i="1" baseline="-25000">
                  <a:solidFill>
                    <a:srgbClr val="1F2937"/>
                  </a:solidFill>
                  <a:latin typeface="Cambria"/>
                </a:rPr>
                <a:t>a</a:t>
              </a:r>
            </a:p>
          </p:txBody>
        </p:sp>
        <p:cxnSp>
          <p:nvCxnSpPr>
            <p:cNvPr id="17438" name="Connector 17437"/>
            <p:cNvCxnSpPr/>
            <p:nvPr/>
          </p:nvCxnSpPr>
          <p:spPr>
            <a:xfrm>
              <a:off x="10266152" y="4965192"/>
              <a:ext cx="0" cy="420624"/>
            </a:xfrm>
            <a:prstGeom prst="line">
              <a:avLst/>
            </a:prstGeom>
            <a:ln w="19050">
              <a:solidFill>
                <a:srgbClr val="1F293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439" name="TextBox 17438"/>
            <p:cNvSpPr txBox="1"/>
            <p:nvPr/>
          </p:nvSpPr>
          <p:spPr>
            <a:xfrm>
              <a:off x="9946112" y="4654296"/>
              <a:ext cx="640080" cy="2926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/>
              <a:r>
                <a:rPr sz="1500" b="0" i="1">
                  <a:solidFill>
                    <a:srgbClr val="1F2937"/>
                  </a:solidFill>
                  <a:latin typeface="Cambria"/>
                </a:rPr>
                <a:t>s</a:t>
              </a:r>
              <a:r>
                <a:rPr sz="1500" b="0" i="1" baseline="-25000">
                  <a:solidFill>
                    <a:srgbClr val="1F2937"/>
                  </a:solidFill>
                  <a:latin typeface="Cambria"/>
                </a:rPr>
                <a:t>v</a:t>
              </a:r>
            </a:p>
          </p:txBody>
        </p:sp>
        <p:sp>
          <p:nvSpPr>
            <p:cNvPr id="17440" name="TextBox 17439"/>
            <p:cNvSpPr txBox="1"/>
            <p:nvPr/>
          </p:nvSpPr>
          <p:spPr>
            <a:xfrm>
              <a:off x="6355080" y="5751576"/>
              <a:ext cx="5285232" cy="21945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r"/>
              <a:r>
                <a:rPr sz="1000" b="0" i="0">
                  <a:solidFill>
                    <a:srgbClr val="5B6472"/>
                  </a:solidFill>
                  <a:latin typeface="Calibri"/>
                </a:rPr>
                <a:t>mismatch rate (QBER) increases  →</a:t>
              </a: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682D3108-8547-FD44-3671-961A3F91457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2065" y="117927"/>
            <a:ext cx="770624" cy="77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31E34B2-4BD5-A37B-0795-D04BC4EA11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65" y="117927"/>
            <a:ext cx="770624" cy="77062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6DD5C5C-7009-BB36-2B36-4B085A6D2B06}"/>
              </a:ext>
            </a:extLst>
          </p:cNvPr>
          <p:cNvSpPr txBox="1"/>
          <p:nvPr/>
        </p:nvSpPr>
        <p:spPr>
          <a:xfrm>
            <a:off x="365760" y="1280160"/>
            <a:ext cx="5394960" cy="2011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IN" sz="1400" b="1" dirty="0"/>
              <a:t>IMPACTS</a:t>
            </a:r>
          </a:p>
          <a:p>
            <a:pPr lvl="0">
              <a:spcAft>
                <a:spcPts val="300"/>
              </a:spcAft>
            </a:pPr>
            <a:r>
              <a:rPr lang="en-IN" sz="1400" b="1" dirty="0" err="1"/>
              <a:t>Defense</a:t>
            </a:r>
            <a:r>
              <a:rPr lang="en-IN" sz="1400" b="1" dirty="0"/>
              <a:t> &amp; Strategic Sectors</a:t>
            </a:r>
            <a:r>
              <a:rPr lang="en-IN" sz="1400" dirty="0"/>
              <a:t>: Neutralizes "Harvest Now, Decrypt Later" threats against classified military communications. </a:t>
            </a:r>
          </a:p>
          <a:p>
            <a:pPr lvl="0">
              <a:spcAft>
                <a:spcPts val="300"/>
              </a:spcAft>
            </a:pPr>
            <a:r>
              <a:rPr lang="en-IN" sz="1400" b="1" dirty="0"/>
              <a:t>FinTech &amp; Banking</a:t>
            </a:r>
            <a:r>
              <a:rPr lang="en-IN" sz="1400" dirty="0"/>
              <a:t>: Secures high-value transactions with non-repudiable, quantum-proof validation. </a:t>
            </a:r>
          </a:p>
          <a:p>
            <a:pPr lvl="0">
              <a:spcAft>
                <a:spcPts val="300"/>
              </a:spcAft>
            </a:pPr>
            <a:r>
              <a:rPr lang="en-IN" sz="1400" b="1" dirty="0"/>
              <a:t>Government Infrastructure</a:t>
            </a:r>
            <a:r>
              <a:rPr lang="en-IN" sz="1400" dirty="0"/>
              <a:t>: Provides tamper-proof authentication for national identity and critical document verification.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758374-2E69-BF02-E70C-0C07423F9C33}"/>
              </a:ext>
            </a:extLst>
          </p:cNvPr>
          <p:cNvSpPr txBox="1"/>
          <p:nvPr/>
        </p:nvSpPr>
        <p:spPr>
          <a:xfrm>
            <a:off x="6172200" y="1280160"/>
            <a:ext cx="5650992" cy="2011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IN" sz="1400" b="1" dirty="0"/>
              <a:t>BENEFITS</a:t>
            </a:r>
          </a:p>
          <a:p>
            <a:pPr lvl="0">
              <a:spcAft>
                <a:spcPts val="300"/>
              </a:spcAft>
            </a:pPr>
            <a:r>
              <a:rPr lang="en-IN" sz="1400" b="1" dirty="0"/>
              <a:t>Information-Theoretic Security</a:t>
            </a:r>
            <a:r>
              <a:rPr lang="en-IN" sz="1400" dirty="0"/>
              <a:t>: Protection backed by physical laws (No-Cloning Theorem), not computational complexity. </a:t>
            </a:r>
          </a:p>
          <a:p>
            <a:pPr lvl="0">
              <a:spcAft>
                <a:spcPts val="300"/>
              </a:spcAft>
            </a:pPr>
            <a:r>
              <a:rPr lang="en-IN" sz="1400" b="1" dirty="0"/>
              <a:t>Explainable &amp; Auditable</a:t>
            </a:r>
            <a:r>
              <a:rPr lang="en-IN" sz="1400" dirty="0"/>
              <a:t>: Eliminates black-box AI bias and hallucinations, meeting rigorous regulatory compliance standards. </a:t>
            </a:r>
          </a:p>
          <a:p>
            <a:pPr lvl="0">
              <a:spcAft>
                <a:spcPts val="300"/>
              </a:spcAft>
            </a:pPr>
            <a:r>
              <a:rPr lang="en-IN" sz="1400" b="1" dirty="0"/>
              <a:t>Zero GPU Overhead</a:t>
            </a:r>
            <a:r>
              <a:rPr lang="en-IN" sz="1400" dirty="0"/>
              <a:t>: Minimal energy and compute footprint compared to large-scale machine learning threat models. 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F8CD99B-C5D9-E3D2-B59C-9DA3596556B9}"/>
              </a:ext>
            </a:extLst>
          </p:cNvPr>
          <p:cNvGrpSpPr/>
          <p:nvPr/>
        </p:nvGrpSpPr>
        <p:grpSpPr>
          <a:xfrm>
            <a:off x="365760" y="3611880"/>
            <a:ext cx="5394960" cy="2368296"/>
            <a:chOff x="365760" y="3611880"/>
            <a:chExt cx="5394960" cy="2368296"/>
          </a:xfrm>
        </p:grpSpPr>
        <p:sp>
          <p:nvSpPr>
            <p:cNvPr id="21" name="Rounded Rectangle 17410">
              <a:extLst>
                <a:ext uri="{FF2B5EF4-FFF2-40B4-BE49-F238E27FC236}">
                  <a16:creationId xmlns:a16="http://schemas.microsoft.com/office/drawing/2014/main" id="{7523AE2D-1964-749E-B9DF-625449C14CF4}"/>
                </a:ext>
              </a:extLst>
            </p:cNvPr>
            <p:cNvSpPr/>
            <p:nvPr/>
          </p:nvSpPr>
          <p:spPr>
            <a:xfrm>
              <a:off x="365760" y="3611880"/>
              <a:ext cx="1645920" cy="2368296"/>
            </a:xfrm>
            <a:prstGeom prst="roundRect">
              <a:avLst>
                <a:gd name="adj" fmla="val 8000"/>
              </a:avLst>
            </a:prstGeom>
            <a:solidFill>
              <a:srgbClr val="F4F6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E3B6C53-777E-804E-E543-80348B6C909A}"/>
                </a:ext>
              </a:extLst>
            </p:cNvPr>
            <p:cNvSpPr/>
            <p:nvPr/>
          </p:nvSpPr>
          <p:spPr>
            <a:xfrm>
              <a:off x="804672" y="3922776"/>
              <a:ext cx="768096" cy="768096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23" name="Picture 22" descr="shield_w.png">
              <a:extLst>
                <a:ext uri="{FF2B5EF4-FFF2-40B4-BE49-F238E27FC236}">
                  <a16:creationId xmlns:a16="http://schemas.microsoft.com/office/drawing/2014/main" id="{B76BED2A-FD0F-6499-838B-3ECB010D15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81334" y="4099438"/>
              <a:ext cx="414772" cy="414772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1EFF448-69AA-5995-A9F7-65031C3D3ADA}"/>
                </a:ext>
              </a:extLst>
            </p:cNvPr>
            <p:cNvSpPr txBox="1"/>
            <p:nvPr/>
          </p:nvSpPr>
          <p:spPr>
            <a:xfrm>
              <a:off x="457200" y="4873752"/>
              <a:ext cx="146304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/>
              <a:r>
                <a:rPr sz="1300" b="1" i="0">
                  <a:solidFill>
                    <a:srgbClr val="1F3864"/>
                  </a:solidFill>
                  <a:latin typeface="Calibri"/>
                </a:rPr>
                <a:t>Defense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3428804-B112-AF8D-4372-DCC3912DF172}"/>
                </a:ext>
              </a:extLst>
            </p:cNvPr>
            <p:cNvSpPr txBox="1"/>
            <p:nvPr/>
          </p:nvSpPr>
          <p:spPr>
            <a:xfrm>
              <a:off x="493776" y="5202936"/>
              <a:ext cx="1389888" cy="6858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/>
              <a:r>
                <a:rPr sz="1100" b="0" i="0">
                  <a:solidFill>
                    <a:srgbClr val="1F2937"/>
                  </a:solidFill>
                  <a:latin typeface="Calibri"/>
                </a:rPr>
                <a:t>Blocks “harvest now, decrypt later”</a:t>
              </a:r>
            </a:p>
          </p:txBody>
        </p:sp>
        <p:sp>
          <p:nvSpPr>
            <p:cNvPr id="26" name="Rounded Rectangle 17415">
              <a:extLst>
                <a:ext uri="{FF2B5EF4-FFF2-40B4-BE49-F238E27FC236}">
                  <a16:creationId xmlns:a16="http://schemas.microsoft.com/office/drawing/2014/main" id="{13831D86-4E6C-AC40-34F9-DC07BE5FF02A}"/>
                </a:ext>
              </a:extLst>
            </p:cNvPr>
            <p:cNvSpPr/>
            <p:nvPr/>
          </p:nvSpPr>
          <p:spPr>
            <a:xfrm>
              <a:off x="2240280" y="3611880"/>
              <a:ext cx="1645920" cy="2368296"/>
            </a:xfrm>
            <a:prstGeom prst="roundRect">
              <a:avLst>
                <a:gd name="adj" fmla="val 8000"/>
              </a:avLst>
            </a:prstGeom>
            <a:solidFill>
              <a:srgbClr val="F4F6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CEA0F28-F827-F902-6C22-548594F2E79D}"/>
                </a:ext>
              </a:extLst>
            </p:cNvPr>
            <p:cNvSpPr/>
            <p:nvPr/>
          </p:nvSpPr>
          <p:spPr>
            <a:xfrm>
              <a:off x="2679192" y="3922776"/>
              <a:ext cx="768096" cy="76809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28" name="Picture 27" descr="rupee_w.png">
              <a:extLst>
                <a:ext uri="{FF2B5EF4-FFF2-40B4-BE49-F238E27FC236}">
                  <a16:creationId xmlns:a16="http://schemas.microsoft.com/office/drawing/2014/main" id="{1D610E6C-2C0B-8EBA-45BF-44AA75A07D9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55854" y="4099438"/>
              <a:ext cx="414772" cy="414772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2B775E1-3036-E9C1-D5D3-A6127C08083B}"/>
                </a:ext>
              </a:extLst>
            </p:cNvPr>
            <p:cNvSpPr txBox="1"/>
            <p:nvPr/>
          </p:nvSpPr>
          <p:spPr>
            <a:xfrm>
              <a:off x="2331720" y="4873752"/>
              <a:ext cx="146304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/>
              <a:r>
                <a:rPr sz="1300" b="1" i="0">
                  <a:solidFill>
                    <a:srgbClr val="1F3864"/>
                  </a:solidFill>
                  <a:latin typeface="Calibri"/>
                </a:rPr>
                <a:t>FinTech &amp; Banking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869A652-15A2-AA7F-4B4D-2D0348CDF29A}"/>
                </a:ext>
              </a:extLst>
            </p:cNvPr>
            <p:cNvSpPr txBox="1"/>
            <p:nvPr/>
          </p:nvSpPr>
          <p:spPr>
            <a:xfrm>
              <a:off x="2368296" y="5202936"/>
              <a:ext cx="1389888" cy="6858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/>
              <a:r>
                <a:rPr sz="1100" b="0" i="0">
                  <a:solidFill>
                    <a:srgbClr val="1F2937"/>
                  </a:solidFill>
                  <a:latin typeface="Calibri"/>
                </a:rPr>
                <a:t>Non-repudiable, quantum-proof transactions</a:t>
              </a:r>
            </a:p>
          </p:txBody>
        </p:sp>
        <p:sp>
          <p:nvSpPr>
            <p:cNvPr id="31" name="Rounded Rectangle 17420">
              <a:extLst>
                <a:ext uri="{FF2B5EF4-FFF2-40B4-BE49-F238E27FC236}">
                  <a16:creationId xmlns:a16="http://schemas.microsoft.com/office/drawing/2014/main" id="{666A8393-0376-492E-A707-D43D35F06309}"/>
                </a:ext>
              </a:extLst>
            </p:cNvPr>
            <p:cNvSpPr/>
            <p:nvPr/>
          </p:nvSpPr>
          <p:spPr>
            <a:xfrm>
              <a:off x="4114800" y="3611880"/>
              <a:ext cx="1645920" cy="2368296"/>
            </a:xfrm>
            <a:prstGeom prst="roundRect">
              <a:avLst>
                <a:gd name="adj" fmla="val 8000"/>
              </a:avLst>
            </a:prstGeom>
            <a:solidFill>
              <a:srgbClr val="F4F6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2BB3E8B-A595-E2C3-30AA-ACD3FE7F39CD}"/>
                </a:ext>
              </a:extLst>
            </p:cNvPr>
            <p:cNvSpPr/>
            <p:nvPr/>
          </p:nvSpPr>
          <p:spPr>
            <a:xfrm>
              <a:off x="4553712" y="3922776"/>
              <a:ext cx="768096" cy="768096"/>
            </a:xfrm>
            <a:prstGeom prst="ellipse">
              <a:avLst/>
            </a:prstGeom>
            <a:solidFill>
              <a:srgbClr val="1E844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3" name="Picture 32" descr="idcard_w.png">
              <a:extLst>
                <a:ext uri="{FF2B5EF4-FFF2-40B4-BE49-F238E27FC236}">
                  <a16:creationId xmlns:a16="http://schemas.microsoft.com/office/drawing/2014/main" id="{3D12FF97-C819-D182-CEE8-AF5253DEF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730374" y="4099438"/>
              <a:ext cx="414772" cy="414772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3EBA0EF-C028-0423-411E-B67BD5070EC8}"/>
                </a:ext>
              </a:extLst>
            </p:cNvPr>
            <p:cNvSpPr txBox="1"/>
            <p:nvPr/>
          </p:nvSpPr>
          <p:spPr>
            <a:xfrm>
              <a:off x="4206240" y="4873752"/>
              <a:ext cx="146304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/>
              <a:r>
                <a:rPr sz="1300" b="1" i="0">
                  <a:solidFill>
                    <a:srgbClr val="1F3864"/>
                  </a:solidFill>
                  <a:latin typeface="Calibri"/>
                </a:rPr>
                <a:t>Government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4F29652-B768-1382-E3F0-24E2EA246244}"/>
                </a:ext>
              </a:extLst>
            </p:cNvPr>
            <p:cNvSpPr txBox="1"/>
            <p:nvPr/>
          </p:nvSpPr>
          <p:spPr>
            <a:xfrm>
              <a:off x="4242816" y="5202936"/>
              <a:ext cx="1389888" cy="6858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/>
              <a:r>
                <a:rPr sz="1100" b="0" i="0">
                  <a:solidFill>
                    <a:srgbClr val="1F2937"/>
                  </a:solidFill>
                  <a:latin typeface="Calibri"/>
                </a:rPr>
                <a:t>Tamper-proof identity and documents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BCAE7C5-4C04-58EC-A30C-A3130D1A9E87}"/>
              </a:ext>
            </a:extLst>
          </p:cNvPr>
          <p:cNvGrpSpPr/>
          <p:nvPr/>
        </p:nvGrpSpPr>
        <p:grpSpPr>
          <a:xfrm>
            <a:off x="6172200" y="3611880"/>
            <a:ext cx="5650992" cy="2331720"/>
            <a:chOff x="6172200" y="3611880"/>
            <a:chExt cx="5650992" cy="2331720"/>
          </a:xfrm>
        </p:grpSpPr>
        <p:sp>
          <p:nvSpPr>
            <p:cNvPr id="37" name="Rounded Rectangle 17425">
              <a:extLst>
                <a:ext uri="{FF2B5EF4-FFF2-40B4-BE49-F238E27FC236}">
                  <a16:creationId xmlns:a16="http://schemas.microsoft.com/office/drawing/2014/main" id="{A0204653-3711-212B-0008-2CE91E6C2839}"/>
                </a:ext>
              </a:extLst>
            </p:cNvPr>
            <p:cNvSpPr/>
            <p:nvPr/>
          </p:nvSpPr>
          <p:spPr>
            <a:xfrm>
              <a:off x="7616952" y="3611880"/>
              <a:ext cx="2066544" cy="411480"/>
            </a:xfrm>
            <a:prstGeom prst="roundRect">
              <a:avLst>
                <a:gd name="adj" fmla="val 20000"/>
              </a:avLst>
            </a:prstGeom>
            <a:solidFill>
              <a:srgbClr val="FDED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8" name="Picture 37" descr="times_red.png">
              <a:extLst>
                <a:ext uri="{FF2B5EF4-FFF2-40B4-BE49-F238E27FC236}">
                  <a16:creationId xmlns:a16="http://schemas.microsoft.com/office/drawing/2014/main" id="{46DD069B-B925-29CA-C6CA-C04B7EA4752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936992" y="3712464"/>
              <a:ext cx="210312" cy="210312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D481EDA-478F-537C-5537-9343ABD89AFC}"/>
                </a:ext>
              </a:extLst>
            </p:cNvPr>
            <p:cNvSpPr txBox="1"/>
            <p:nvPr/>
          </p:nvSpPr>
          <p:spPr>
            <a:xfrm>
              <a:off x="8202168" y="3611880"/>
              <a:ext cx="1426464" cy="4114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50" b="1" i="0">
                  <a:solidFill>
                    <a:srgbClr val="C0392B"/>
                  </a:solidFill>
                  <a:latin typeface="Calibri"/>
                </a:rPr>
                <a:t>Conventional</a:t>
              </a:r>
            </a:p>
          </p:txBody>
        </p:sp>
        <p:sp>
          <p:nvSpPr>
            <p:cNvPr id="40" name="Rounded Rectangle 17428">
              <a:extLst>
                <a:ext uri="{FF2B5EF4-FFF2-40B4-BE49-F238E27FC236}">
                  <a16:creationId xmlns:a16="http://schemas.microsoft.com/office/drawing/2014/main" id="{ADD97740-4AAA-AA2D-4CF4-B2BDB2982289}"/>
                </a:ext>
              </a:extLst>
            </p:cNvPr>
            <p:cNvSpPr/>
            <p:nvPr/>
          </p:nvSpPr>
          <p:spPr>
            <a:xfrm>
              <a:off x="9756648" y="3611880"/>
              <a:ext cx="2066544" cy="411480"/>
            </a:xfrm>
            <a:prstGeom prst="roundRect">
              <a:avLst>
                <a:gd name="adj" fmla="val 2000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41" name="Picture 40" descr="check_green.png">
              <a:extLst>
                <a:ext uri="{FF2B5EF4-FFF2-40B4-BE49-F238E27FC236}">
                  <a16:creationId xmlns:a16="http://schemas.microsoft.com/office/drawing/2014/main" id="{CE42ED9B-9C0B-3C8A-9383-41183335555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076688" y="3712464"/>
              <a:ext cx="210312" cy="210312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1FE1E26-B700-522F-ACCC-BF09CE951C28}"/>
                </a:ext>
              </a:extLst>
            </p:cNvPr>
            <p:cNvSpPr txBox="1"/>
            <p:nvPr/>
          </p:nvSpPr>
          <p:spPr>
            <a:xfrm>
              <a:off x="10341864" y="3611880"/>
              <a:ext cx="1426464" cy="4114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50" b="1" i="0">
                  <a:solidFill>
                    <a:srgbClr val="1E8449"/>
                  </a:solidFill>
                  <a:latin typeface="Calibri"/>
                </a:rPr>
                <a:t>Our approach</a:t>
              </a:r>
            </a:p>
          </p:txBody>
        </p:sp>
        <p:sp>
          <p:nvSpPr>
            <p:cNvPr id="43" name="Rounded Rectangle 17431">
              <a:extLst>
                <a:ext uri="{FF2B5EF4-FFF2-40B4-BE49-F238E27FC236}">
                  <a16:creationId xmlns:a16="http://schemas.microsoft.com/office/drawing/2014/main" id="{249BA889-3F2B-D368-034F-2527B020DF6D}"/>
                </a:ext>
              </a:extLst>
            </p:cNvPr>
            <p:cNvSpPr/>
            <p:nvPr/>
          </p:nvSpPr>
          <p:spPr>
            <a:xfrm>
              <a:off x="6172200" y="4096512"/>
              <a:ext cx="1371600" cy="566928"/>
            </a:xfrm>
            <a:prstGeom prst="roundRect">
              <a:avLst>
                <a:gd name="adj" fmla="val 15000"/>
              </a:avLst>
            </a:prstGeom>
            <a:solidFill>
              <a:srgbClr val="F4F6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A77F151-CEEA-34D3-D032-56BF77C17A48}"/>
                </a:ext>
              </a:extLst>
            </p:cNvPr>
            <p:cNvSpPr txBox="1"/>
            <p:nvPr/>
          </p:nvSpPr>
          <p:spPr>
            <a:xfrm>
              <a:off x="6281928" y="4096512"/>
              <a:ext cx="1188720" cy="5669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150" b="1" i="0">
                  <a:solidFill>
                    <a:srgbClr val="1F3864"/>
                  </a:solidFill>
                  <a:latin typeface="Calibri"/>
                </a:rPr>
                <a:t>Security basis</a:t>
              </a:r>
            </a:p>
          </p:txBody>
        </p:sp>
        <p:sp>
          <p:nvSpPr>
            <p:cNvPr id="45" name="Rounded Rectangle 17433">
              <a:extLst>
                <a:ext uri="{FF2B5EF4-FFF2-40B4-BE49-F238E27FC236}">
                  <a16:creationId xmlns:a16="http://schemas.microsoft.com/office/drawing/2014/main" id="{38D15515-85E4-19FC-F7F7-6A949E0DE185}"/>
                </a:ext>
              </a:extLst>
            </p:cNvPr>
            <p:cNvSpPr/>
            <p:nvPr/>
          </p:nvSpPr>
          <p:spPr>
            <a:xfrm>
              <a:off x="7616952" y="4096512"/>
              <a:ext cx="2066544" cy="566928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E3C4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37F8DD4-7AF9-DD6B-6BF4-EE12DE5166FB}"/>
                </a:ext>
              </a:extLst>
            </p:cNvPr>
            <p:cNvSpPr txBox="1"/>
            <p:nvPr/>
          </p:nvSpPr>
          <p:spPr>
            <a:xfrm>
              <a:off x="7744968" y="4096512"/>
              <a:ext cx="1810512" cy="5669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100" b="0" i="0">
                  <a:solidFill>
                    <a:srgbClr val="1F2937"/>
                  </a:solidFill>
                  <a:latin typeface="Calibri"/>
                </a:rPr>
                <a:t>Math hardness that Shor’s algorithm can break</a:t>
              </a:r>
            </a:p>
          </p:txBody>
        </p:sp>
        <p:sp>
          <p:nvSpPr>
            <p:cNvPr id="47" name="Rounded Rectangle 17435">
              <a:extLst>
                <a:ext uri="{FF2B5EF4-FFF2-40B4-BE49-F238E27FC236}">
                  <a16:creationId xmlns:a16="http://schemas.microsoft.com/office/drawing/2014/main" id="{938C0A5A-E6D2-CAD1-B485-B6DB79170AFE}"/>
                </a:ext>
              </a:extLst>
            </p:cNvPr>
            <p:cNvSpPr/>
            <p:nvPr/>
          </p:nvSpPr>
          <p:spPr>
            <a:xfrm>
              <a:off x="9756648" y="4096512"/>
              <a:ext cx="2066544" cy="566928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B9DE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3C2617A-6DFC-D252-88A2-3130A431B8DD}"/>
                </a:ext>
              </a:extLst>
            </p:cNvPr>
            <p:cNvSpPr txBox="1"/>
            <p:nvPr/>
          </p:nvSpPr>
          <p:spPr>
            <a:xfrm>
              <a:off x="9884664" y="4096512"/>
              <a:ext cx="1810512" cy="5669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100" b="0" i="0">
                  <a:solidFill>
                    <a:srgbClr val="1F2937"/>
                  </a:solidFill>
                  <a:latin typeface="Calibri"/>
                </a:rPr>
                <a:t>Physical laws (No-Cloning Theorem)</a:t>
              </a:r>
            </a:p>
          </p:txBody>
        </p:sp>
        <p:sp>
          <p:nvSpPr>
            <p:cNvPr id="49" name="Rounded Rectangle 17437">
              <a:extLst>
                <a:ext uri="{FF2B5EF4-FFF2-40B4-BE49-F238E27FC236}">
                  <a16:creationId xmlns:a16="http://schemas.microsoft.com/office/drawing/2014/main" id="{FD7E9991-82BC-0374-6454-65C99EA2B6DF}"/>
                </a:ext>
              </a:extLst>
            </p:cNvPr>
            <p:cNvSpPr/>
            <p:nvPr/>
          </p:nvSpPr>
          <p:spPr>
            <a:xfrm>
              <a:off x="6172200" y="4736592"/>
              <a:ext cx="1371600" cy="566928"/>
            </a:xfrm>
            <a:prstGeom prst="roundRect">
              <a:avLst>
                <a:gd name="adj" fmla="val 15000"/>
              </a:avLst>
            </a:prstGeom>
            <a:solidFill>
              <a:srgbClr val="F4F6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5F29E62-FDCA-8CFE-9E1C-2B7563FBA1A8}"/>
                </a:ext>
              </a:extLst>
            </p:cNvPr>
            <p:cNvSpPr txBox="1"/>
            <p:nvPr/>
          </p:nvSpPr>
          <p:spPr>
            <a:xfrm>
              <a:off x="6281928" y="4736592"/>
              <a:ext cx="1188720" cy="5669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150" b="1" i="0">
                  <a:solidFill>
                    <a:srgbClr val="1F3864"/>
                  </a:solidFill>
                  <a:latin typeface="Calibri"/>
                </a:rPr>
                <a:t>Decisions</a:t>
              </a:r>
            </a:p>
          </p:txBody>
        </p:sp>
        <p:sp>
          <p:nvSpPr>
            <p:cNvPr id="51" name="Rounded Rectangle 17439">
              <a:extLst>
                <a:ext uri="{FF2B5EF4-FFF2-40B4-BE49-F238E27FC236}">
                  <a16:creationId xmlns:a16="http://schemas.microsoft.com/office/drawing/2014/main" id="{4C08EA42-0713-D6B5-1646-3F15AA8BB0A4}"/>
                </a:ext>
              </a:extLst>
            </p:cNvPr>
            <p:cNvSpPr/>
            <p:nvPr/>
          </p:nvSpPr>
          <p:spPr>
            <a:xfrm>
              <a:off x="7616952" y="4736592"/>
              <a:ext cx="2066544" cy="566928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E3C4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82A8BD9-D32D-998C-C373-B7FF34ABD3CD}"/>
                </a:ext>
              </a:extLst>
            </p:cNvPr>
            <p:cNvSpPr txBox="1"/>
            <p:nvPr/>
          </p:nvSpPr>
          <p:spPr>
            <a:xfrm>
              <a:off x="7744968" y="4736592"/>
              <a:ext cx="1810512" cy="5669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100" b="0" i="0">
                  <a:solidFill>
                    <a:srgbClr val="1F2937"/>
                  </a:solidFill>
                  <a:latin typeface="Calibri"/>
                </a:rPr>
                <a:t>Black-box ML, false positives</a:t>
              </a:r>
            </a:p>
          </p:txBody>
        </p:sp>
        <p:sp>
          <p:nvSpPr>
            <p:cNvPr id="53" name="Rounded Rectangle 17441">
              <a:extLst>
                <a:ext uri="{FF2B5EF4-FFF2-40B4-BE49-F238E27FC236}">
                  <a16:creationId xmlns:a16="http://schemas.microsoft.com/office/drawing/2014/main" id="{6B698E50-4AEA-7F09-D4F5-E96A58D1651B}"/>
                </a:ext>
              </a:extLst>
            </p:cNvPr>
            <p:cNvSpPr/>
            <p:nvPr/>
          </p:nvSpPr>
          <p:spPr>
            <a:xfrm>
              <a:off x="9756648" y="4736592"/>
              <a:ext cx="2066544" cy="566928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B9DE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2ECA399-AAA7-56F1-5251-9941C93A632E}"/>
                </a:ext>
              </a:extLst>
            </p:cNvPr>
            <p:cNvSpPr txBox="1"/>
            <p:nvPr/>
          </p:nvSpPr>
          <p:spPr>
            <a:xfrm>
              <a:off x="9884664" y="4736592"/>
              <a:ext cx="1810512" cy="5669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100" b="0" i="0">
                  <a:solidFill>
                    <a:srgbClr val="1F2937"/>
                  </a:solidFill>
                  <a:latin typeface="Calibri"/>
                </a:rPr>
                <a:t>Deterministic and auditable</a:t>
              </a:r>
            </a:p>
          </p:txBody>
        </p:sp>
        <p:sp>
          <p:nvSpPr>
            <p:cNvPr id="55" name="Rounded Rectangle 17443">
              <a:extLst>
                <a:ext uri="{FF2B5EF4-FFF2-40B4-BE49-F238E27FC236}">
                  <a16:creationId xmlns:a16="http://schemas.microsoft.com/office/drawing/2014/main" id="{553C775C-7D12-5C26-6B81-BD4A93EB556D}"/>
                </a:ext>
              </a:extLst>
            </p:cNvPr>
            <p:cNvSpPr/>
            <p:nvPr/>
          </p:nvSpPr>
          <p:spPr>
            <a:xfrm>
              <a:off x="6172200" y="5376672"/>
              <a:ext cx="1371600" cy="566928"/>
            </a:xfrm>
            <a:prstGeom prst="roundRect">
              <a:avLst>
                <a:gd name="adj" fmla="val 15000"/>
              </a:avLst>
            </a:prstGeom>
            <a:solidFill>
              <a:srgbClr val="F4F6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8BF07E6-8C4F-2012-3D2F-512B76444CE6}"/>
                </a:ext>
              </a:extLst>
            </p:cNvPr>
            <p:cNvSpPr txBox="1"/>
            <p:nvPr/>
          </p:nvSpPr>
          <p:spPr>
            <a:xfrm>
              <a:off x="6281928" y="5376672"/>
              <a:ext cx="1188720" cy="5669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150" b="1" i="0">
                  <a:solidFill>
                    <a:srgbClr val="1F3864"/>
                  </a:solidFill>
                  <a:latin typeface="Calibri"/>
                </a:rPr>
                <a:t>Compute cost</a:t>
              </a:r>
            </a:p>
          </p:txBody>
        </p:sp>
        <p:sp>
          <p:nvSpPr>
            <p:cNvPr id="57" name="Rounded Rectangle 17445">
              <a:extLst>
                <a:ext uri="{FF2B5EF4-FFF2-40B4-BE49-F238E27FC236}">
                  <a16:creationId xmlns:a16="http://schemas.microsoft.com/office/drawing/2014/main" id="{E1CD2C63-14EE-9CBB-6D55-3C494D4D80ED}"/>
                </a:ext>
              </a:extLst>
            </p:cNvPr>
            <p:cNvSpPr/>
            <p:nvPr/>
          </p:nvSpPr>
          <p:spPr>
            <a:xfrm>
              <a:off x="7616952" y="5376672"/>
              <a:ext cx="2066544" cy="566928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E3C4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2792FC6-4476-8152-7166-3D68F11D832D}"/>
                </a:ext>
              </a:extLst>
            </p:cNvPr>
            <p:cNvSpPr txBox="1"/>
            <p:nvPr/>
          </p:nvSpPr>
          <p:spPr>
            <a:xfrm>
              <a:off x="7744968" y="5376672"/>
              <a:ext cx="1810512" cy="5669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100" b="0" i="0">
                  <a:solidFill>
                    <a:srgbClr val="1F2937"/>
                  </a:solidFill>
                  <a:latin typeface="Calibri"/>
                </a:rPr>
                <a:t>GPU-heavy threat models</a:t>
              </a:r>
            </a:p>
          </p:txBody>
        </p:sp>
        <p:sp>
          <p:nvSpPr>
            <p:cNvPr id="59" name="Rounded Rectangle 17447">
              <a:extLst>
                <a:ext uri="{FF2B5EF4-FFF2-40B4-BE49-F238E27FC236}">
                  <a16:creationId xmlns:a16="http://schemas.microsoft.com/office/drawing/2014/main" id="{951C21AC-B5DC-4C35-EF4E-8916C9B13718}"/>
                </a:ext>
              </a:extLst>
            </p:cNvPr>
            <p:cNvSpPr/>
            <p:nvPr/>
          </p:nvSpPr>
          <p:spPr>
            <a:xfrm>
              <a:off x="9756648" y="5376672"/>
              <a:ext cx="2066544" cy="566928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B9DE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3437DA1-B9CB-DE9B-AC8B-5746BA5DF631}"/>
                </a:ext>
              </a:extLst>
            </p:cNvPr>
            <p:cNvSpPr txBox="1"/>
            <p:nvPr/>
          </p:nvSpPr>
          <p:spPr>
            <a:xfrm>
              <a:off x="9884664" y="5376672"/>
              <a:ext cx="1810512" cy="5669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100" b="0" i="0">
                  <a:solidFill>
                    <a:srgbClr val="1F2937"/>
                  </a:solidFill>
                  <a:latin typeface="Calibri"/>
                </a:rPr>
                <a:t>Zero GPU overhead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1F36BD-D95F-8AD4-0BE9-1D99AC22584C}"/>
              </a:ext>
            </a:extLst>
          </p:cNvPr>
          <p:cNvSpPr txBox="1"/>
          <p:nvPr/>
        </p:nvSpPr>
        <p:spPr>
          <a:xfrm>
            <a:off x="365760" y="1280160"/>
            <a:ext cx="539496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IN" sz="1400" b="1" dirty="0"/>
              <a:t>FOUNDATIONAL RESEARCH</a:t>
            </a:r>
          </a:p>
          <a:p>
            <a:pPr lvl="0">
              <a:spcAft>
                <a:spcPts val="300"/>
              </a:spcAft>
            </a:pPr>
            <a:r>
              <a:rPr lang="en-IN" sz="1400" b="1" dirty="0" err="1"/>
              <a:t>Wallden</a:t>
            </a:r>
            <a:r>
              <a:rPr lang="en-IN" sz="1400" b="1" dirty="0"/>
              <a:t> et al. (2015)</a:t>
            </a:r>
            <a:r>
              <a:rPr lang="en-IN" sz="1400" dirty="0"/>
              <a:t>: </a:t>
            </a:r>
            <a:r>
              <a:rPr lang="en-IN" sz="1400" i="1" dirty="0">
                <a:hlinkClick r:id="rId4"/>
              </a:rPr>
              <a:t>Quantum digital signatures with quantum key distribution components</a:t>
            </a:r>
            <a:r>
              <a:rPr lang="en-IN" sz="1400" dirty="0">
                <a:hlinkClick r:id="rId4"/>
              </a:rPr>
              <a:t>, Phys. Rev. A / arXiv:1403.5551</a:t>
            </a:r>
            <a:r>
              <a:rPr lang="en-IN" sz="1400" dirty="0"/>
              <a:t>. </a:t>
            </a:r>
            <a:endParaRPr lang="en-IN" sz="1400" b="1" dirty="0"/>
          </a:p>
          <a:p>
            <a:pPr lvl="0">
              <a:spcAft>
                <a:spcPts val="300"/>
              </a:spcAft>
            </a:pPr>
            <a:r>
              <a:rPr lang="en-IN" sz="1400" b="1" dirty="0"/>
              <a:t>Gottesman &amp; Chuang (2001)</a:t>
            </a:r>
            <a:r>
              <a:rPr lang="en-IN" sz="1400" dirty="0"/>
              <a:t>: </a:t>
            </a:r>
            <a:r>
              <a:rPr lang="en-IN" sz="1400" i="1" dirty="0">
                <a:hlinkClick r:id="rId5"/>
              </a:rPr>
              <a:t>Quantum Digital Signatures</a:t>
            </a:r>
            <a:r>
              <a:rPr lang="en-IN" sz="1400" dirty="0">
                <a:hlinkClick r:id="rId5"/>
              </a:rPr>
              <a:t> (</a:t>
            </a:r>
            <a:r>
              <a:rPr lang="en-IN" sz="1400" dirty="0" err="1">
                <a:hlinkClick r:id="rId5"/>
              </a:rPr>
              <a:t>arXiv:quant-ph</a:t>
            </a:r>
            <a:r>
              <a:rPr lang="en-IN" sz="1400" dirty="0">
                <a:hlinkClick r:id="rId5"/>
              </a:rPr>
              <a:t>/0105032).</a:t>
            </a:r>
            <a:endParaRPr lang="en-IN" sz="1400" dirty="0"/>
          </a:p>
          <a:p>
            <a:pPr lvl="0">
              <a:spcAft>
                <a:spcPts val="300"/>
              </a:spcAft>
            </a:pPr>
            <a:r>
              <a:rPr lang="en-IN" sz="1400" b="1" dirty="0"/>
              <a:t>Wang et al. (2015)</a:t>
            </a:r>
            <a:r>
              <a:rPr lang="en-IN" sz="1400" dirty="0"/>
              <a:t>: </a:t>
            </a:r>
            <a:r>
              <a:rPr lang="en-IN" sz="1400" i="1" dirty="0">
                <a:hlinkClick r:id="rId6"/>
              </a:rPr>
              <a:t>Quantum Digital Signature Scheme based on Multiparty Controlled EPR Channels</a:t>
            </a:r>
            <a:r>
              <a:rPr lang="en-IN" sz="1400" dirty="0">
                <a:hlinkClick r:id="rId6"/>
              </a:rPr>
              <a:t> (arXiv:1507.03581).</a:t>
            </a:r>
            <a:endParaRPr lang="en-IN" sz="1400" dirty="0"/>
          </a:p>
          <a:p>
            <a:pPr lvl="0">
              <a:spcAft>
                <a:spcPts val="300"/>
              </a:spcAft>
            </a:pPr>
            <a:r>
              <a:rPr lang="en-IN" sz="1400" b="1" dirty="0"/>
              <a:t>Amiri et al. (2015)</a:t>
            </a:r>
            <a:r>
              <a:rPr lang="en-IN" sz="1400" dirty="0"/>
              <a:t>: </a:t>
            </a:r>
            <a:r>
              <a:rPr lang="en-IN" sz="1400" i="1" dirty="0">
                <a:hlinkClick r:id="rId7"/>
              </a:rPr>
              <a:t>Practical Quantum Digital Signature without authenticated quantum channels</a:t>
            </a:r>
            <a:r>
              <a:rPr lang="en-IN" sz="1400" dirty="0">
                <a:hlinkClick r:id="rId7"/>
              </a:rPr>
              <a:t> (arXiv:1507.03333)</a:t>
            </a:r>
            <a:endParaRPr lang="en-IN" sz="1400" dirty="0"/>
          </a:p>
        </p:txBody>
      </p:sp>
      <p:grpSp>
        <p:nvGrpSpPr>
          <p:cNvPr id="2" name="Group 1"/>
          <p:cNvGrpSpPr/>
          <p:nvPr/>
        </p:nvGrpSpPr>
        <p:grpSpPr>
          <a:xfrm>
            <a:off x="6172200" y="1325880"/>
            <a:ext cx="5650992" cy="1938528"/>
            <a:chOff x="6172200" y="1325880"/>
            <a:chExt cx="5650992" cy="1938528"/>
          </a:xfrm>
        </p:grpSpPr>
        <p:sp>
          <p:nvSpPr>
            <p:cNvPr id="17411" name="TextBox 17410"/>
            <p:cNvSpPr txBox="1"/>
            <p:nvPr/>
          </p:nvSpPr>
          <p:spPr>
            <a:xfrm>
              <a:off x="6172200" y="1325880"/>
              <a:ext cx="5650992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/>
              <a:r>
                <a:rPr sz="1200" b="1" i="0">
                  <a:solidFill>
                    <a:srgbClr val="1F3864"/>
                  </a:solidFill>
                  <a:latin typeface="Calibri"/>
                </a:rPr>
                <a:t>CORE PRINCIPLES WE BUILD ON</a:t>
              </a:r>
            </a:p>
          </p:txBody>
        </p:sp>
        <p:sp>
          <p:nvSpPr>
            <p:cNvPr id="17412" name="Rounded Rectangle 17411"/>
            <p:cNvSpPr/>
            <p:nvPr/>
          </p:nvSpPr>
          <p:spPr>
            <a:xfrm>
              <a:off x="6172200" y="1691640"/>
              <a:ext cx="2743200" cy="713232"/>
            </a:xfrm>
            <a:prstGeom prst="roundRect">
              <a:avLst>
                <a:gd name="adj" fmla="val 15000"/>
              </a:avLst>
            </a:prstGeom>
            <a:solidFill>
              <a:srgbClr val="EAF3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13" name="Oval 17412"/>
            <p:cNvSpPr/>
            <p:nvPr/>
          </p:nvSpPr>
          <p:spPr>
            <a:xfrm>
              <a:off x="6300216" y="1837944"/>
              <a:ext cx="420624" cy="420624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7414" name="Picture 17413" descr="clone_w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396960" y="1934688"/>
              <a:ext cx="227137" cy="227137"/>
            </a:xfrm>
            <a:prstGeom prst="rect">
              <a:avLst/>
            </a:prstGeom>
          </p:spPr>
        </p:pic>
        <p:sp>
          <p:nvSpPr>
            <p:cNvPr id="17415" name="TextBox 17414"/>
            <p:cNvSpPr txBox="1"/>
            <p:nvPr/>
          </p:nvSpPr>
          <p:spPr>
            <a:xfrm>
              <a:off x="6858000" y="1783080"/>
              <a:ext cx="1965960" cy="5303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50" b="1" i="0" dirty="0">
                  <a:solidFill>
                    <a:srgbClr val="1F3864"/>
                  </a:solidFill>
                  <a:latin typeface="Calibri"/>
                </a:rPr>
                <a:t>No-Cloning Theorem</a:t>
              </a:r>
            </a:p>
            <a:p>
              <a:pPr algn="l"/>
              <a:r>
                <a:rPr sz="1050" b="0" i="0" dirty="0">
                  <a:solidFill>
                    <a:srgbClr val="5B6472"/>
                  </a:solidFill>
                  <a:latin typeface="Calibri"/>
                </a:rPr>
                <a:t>unknown states cannot be copied</a:t>
              </a:r>
            </a:p>
          </p:txBody>
        </p:sp>
        <p:sp>
          <p:nvSpPr>
            <p:cNvPr id="17416" name="Rounded Rectangle 17415"/>
            <p:cNvSpPr/>
            <p:nvPr/>
          </p:nvSpPr>
          <p:spPr>
            <a:xfrm>
              <a:off x="9079992" y="1691640"/>
              <a:ext cx="2743200" cy="713232"/>
            </a:xfrm>
            <a:prstGeom prst="roundRect">
              <a:avLst>
                <a:gd name="adj" fmla="val 15000"/>
              </a:avLst>
            </a:prstGeom>
            <a:solidFill>
              <a:srgbClr val="EAF3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17" name="Oval 17416"/>
            <p:cNvSpPr/>
            <p:nvPr/>
          </p:nvSpPr>
          <p:spPr>
            <a:xfrm>
              <a:off x="9208008" y="1837944"/>
              <a:ext cx="420624" cy="420624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7418" name="Picture 17417" descr="wave_w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304752" y="1934688"/>
              <a:ext cx="227137" cy="227137"/>
            </a:xfrm>
            <a:prstGeom prst="rect">
              <a:avLst/>
            </a:prstGeom>
          </p:spPr>
        </p:pic>
        <p:sp>
          <p:nvSpPr>
            <p:cNvPr id="17419" name="TextBox 17418"/>
            <p:cNvSpPr txBox="1"/>
            <p:nvPr/>
          </p:nvSpPr>
          <p:spPr>
            <a:xfrm>
              <a:off x="9765792" y="1783080"/>
              <a:ext cx="1965960" cy="5303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50" b="1" i="0">
                  <a:solidFill>
                    <a:srgbClr val="1F3864"/>
                  </a:solidFill>
                  <a:latin typeface="Calibri"/>
                </a:rPr>
                <a:t>Uncertainty Principle</a:t>
              </a:r>
            </a:p>
            <a:p>
              <a:pPr algn="l"/>
              <a:r>
                <a:rPr sz="1050" b="0" i="0">
                  <a:solidFill>
                    <a:srgbClr val="5B6472"/>
                  </a:solidFill>
                  <a:latin typeface="Calibri"/>
                </a:rPr>
                <a:t>eavesdropping leaves a trace</a:t>
              </a:r>
            </a:p>
          </p:txBody>
        </p:sp>
        <p:sp>
          <p:nvSpPr>
            <p:cNvPr id="17420" name="Rounded Rectangle 17419"/>
            <p:cNvSpPr/>
            <p:nvPr/>
          </p:nvSpPr>
          <p:spPr>
            <a:xfrm>
              <a:off x="6172200" y="2551176"/>
              <a:ext cx="2743200" cy="713232"/>
            </a:xfrm>
            <a:prstGeom prst="roundRect">
              <a:avLst>
                <a:gd name="adj" fmla="val 15000"/>
              </a:avLst>
            </a:prstGeom>
            <a:solidFill>
              <a:srgbClr val="EAF3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21" name="Oval 17420"/>
            <p:cNvSpPr/>
            <p:nvPr/>
          </p:nvSpPr>
          <p:spPr>
            <a:xfrm>
              <a:off x="6300216" y="2697480"/>
              <a:ext cx="420624" cy="420624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7422" name="Picture 17421" descr="exch_w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396960" y="2794224"/>
              <a:ext cx="227137" cy="227137"/>
            </a:xfrm>
            <a:prstGeom prst="rect">
              <a:avLst/>
            </a:prstGeom>
          </p:spPr>
        </p:pic>
        <p:sp>
          <p:nvSpPr>
            <p:cNvPr id="17423" name="TextBox 17422"/>
            <p:cNvSpPr txBox="1"/>
            <p:nvPr/>
          </p:nvSpPr>
          <p:spPr>
            <a:xfrm>
              <a:off x="6858000" y="2642616"/>
              <a:ext cx="1965960" cy="5303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50" b="1" i="0" dirty="0">
                  <a:solidFill>
                    <a:srgbClr val="1F3864"/>
                  </a:solidFill>
                  <a:latin typeface="Calibri"/>
                </a:rPr>
                <a:t>Quantum Teleportation</a:t>
              </a:r>
            </a:p>
            <a:p>
              <a:pPr algn="l"/>
              <a:r>
                <a:rPr sz="1050" b="0" i="0" dirty="0">
                  <a:solidFill>
                    <a:srgbClr val="5B6472"/>
                  </a:solidFill>
                  <a:latin typeface="Calibri"/>
                </a:rPr>
                <a:t>Bell pairs + Pauli feed-forward</a:t>
              </a:r>
            </a:p>
          </p:txBody>
        </p:sp>
        <p:sp>
          <p:nvSpPr>
            <p:cNvPr id="17424" name="Rounded Rectangle 17423"/>
            <p:cNvSpPr/>
            <p:nvPr/>
          </p:nvSpPr>
          <p:spPr>
            <a:xfrm>
              <a:off x="9079992" y="2551176"/>
              <a:ext cx="2743200" cy="713232"/>
            </a:xfrm>
            <a:prstGeom prst="roundRect">
              <a:avLst>
                <a:gd name="adj" fmla="val 15000"/>
              </a:avLst>
            </a:prstGeom>
            <a:solidFill>
              <a:srgbClr val="EAF3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25" name="Oval 17424"/>
            <p:cNvSpPr/>
            <p:nvPr/>
          </p:nvSpPr>
          <p:spPr>
            <a:xfrm>
              <a:off x="9208008" y="2697480"/>
              <a:ext cx="420624" cy="420624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7426" name="Picture 17425" descr="chart_w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304752" y="2794224"/>
              <a:ext cx="227137" cy="227137"/>
            </a:xfrm>
            <a:prstGeom prst="rect">
              <a:avLst/>
            </a:prstGeom>
          </p:spPr>
        </p:pic>
        <p:sp>
          <p:nvSpPr>
            <p:cNvPr id="17427" name="TextBox 17426"/>
            <p:cNvSpPr txBox="1"/>
            <p:nvPr/>
          </p:nvSpPr>
          <p:spPr>
            <a:xfrm>
              <a:off x="9765792" y="2642616"/>
              <a:ext cx="1965960" cy="5303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sz="1250" b="1" i="0" dirty="0">
                  <a:solidFill>
                    <a:srgbClr val="1F3864"/>
                  </a:solidFill>
                  <a:latin typeface="Calibri"/>
                </a:rPr>
                <a:t>Chernoff-</a:t>
              </a:r>
              <a:r>
                <a:rPr sz="1250" b="1" i="0" dirty="0" err="1">
                  <a:solidFill>
                    <a:srgbClr val="1F3864"/>
                  </a:solidFill>
                  <a:latin typeface="Calibri"/>
                </a:rPr>
                <a:t>Hoeffding</a:t>
              </a:r>
              <a:endParaRPr sz="1250" b="1" i="0" dirty="0">
                <a:solidFill>
                  <a:srgbClr val="1F3864"/>
                </a:solidFill>
                <a:latin typeface="Calibri"/>
              </a:endParaRPr>
            </a:p>
            <a:p>
              <a:pPr algn="l"/>
              <a:r>
                <a:rPr sz="1050" b="0" i="0" dirty="0">
                  <a:solidFill>
                    <a:srgbClr val="5B6472"/>
                  </a:solidFill>
                  <a:latin typeface="Calibri"/>
                </a:rPr>
                <a:t>finite-sample error bounds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91C601D-0D43-6D6B-0450-1699D3097B4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8223" y="3727417"/>
            <a:ext cx="11555553" cy="2357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BC572E-294C-4DC5-7D67-6E843EBB8AC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2065" y="117927"/>
            <a:ext cx="770624" cy="77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7850</TotalTime>
  <Words>690</Words>
  <Application>Microsoft Office PowerPoint</Application>
  <PresentationFormat>Widescreen</PresentationFormat>
  <Paragraphs>100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ＭＳ Ｐゴシック</vt:lpstr>
      <vt:lpstr>Arial</vt:lpstr>
      <vt:lpstr>Calibri</vt:lpstr>
      <vt:lpstr>Cambria</vt:lpstr>
      <vt:lpstr>Cambria Math</vt:lpstr>
      <vt:lpstr>Garamond</vt:lpstr>
      <vt:lpstr>Segoe UI</vt:lpstr>
      <vt:lpstr>Times New Roman</vt:lpstr>
      <vt:lpstr>TradeGothic</vt:lpstr>
      <vt:lpstr>Office Theme</vt:lpstr>
      <vt:lpstr>SMART INDIA HACKATHON 2026</vt:lpstr>
      <vt:lpstr> HEDWIG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Jashan Preet ‪Singh</cp:lastModifiedBy>
  <cp:revision>169</cp:revision>
  <dcterms:created xsi:type="dcterms:W3CDTF">2013-12-12T18:46:50Z</dcterms:created>
  <dcterms:modified xsi:type="dcterms:W3CDTF">2026-09-29T05:09:56Z</dcterms:modified>
  <cp:category/>
</cp:coreProperties>
</file>